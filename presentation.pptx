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2" r:id="rId7"/>
    <p:sldId id="260" r:id="rId8"/>
    <p:sldId id="261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50"/>
    <p:restoredTop sz="94664"/>
  </p:normalViewPr>
  <p:slideViewPr>
    <p:cSldViewPr snapToGrid="0">
      <p:cViewPr varScale="1">
        <p:scale>
          <a:sx n="90" d="100"/>
          <a:sy n="90" d="100"/>
        </p:scale>
        <p:origin x="2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7:06:35.49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24575,'5'36'0,"17"10"0,1-4 0,22 33 0,-9-27 0,11 35 0,-2-29 0,1 21 0,0-11 0,0 4 0,0-7 0,0 1 0,-8-3 0,-3-8 0,-7 4 0,-1-14 0,0 6 0,-1-8 0,-6 0 0,4 0 0,-9 0 0,9 0 0,-9 0 0,9 0 0,-9 0 0,10 0 0,-11 0 0,5 0 0,0 0 0,-5 0 0,12 8 0,-12-6 0,6 6 0,-1-8 0,-5 0 0,5 0 0,-6-6 0,-2-9 0,1-1 0,-1-11 0,0 4 0,-5-5 0,4 0 0,-18-5 0,0-7 0,-14-11 0,-2-1 0,0-10 0,1 10 0,-7-15 0,5 8 0,2-4 0,6 8 0,6 5 0,0 0 0,0 0 0,-5 0 0,3 0 0,-4 4 0,7-3 0,-1 9 0,0-9 0,0 4 0,-6 0 0,-1-4 0,-13 3 0,-1-6 0,-7 0 0,0 0 0,-1 0 0,1 0 0,7 0 0,1 0 0,7 1 0,6 6 0,1-5 0,20 10 0,15 12 0,7-2 0,16 14 0,-16-5 0,6-5 0,0 5 0,-6-6 0,6 0 0,-8 0 0,8 1 0,-6-1 0,6 0 0,-13-1 0,4 1 0,-10-1 0,11 1 0,-11-1 0,4-5 0,1 4 0,-5-4 0,4 5 0,1 1 0,1-1 0,6 1 0,6 0 0,-4 6 0,4-5 0,1 5 0,-6-1 0,13-3 0,-13 4 0,6-6 0,-8 0 0,1 0 0,0 0 0,-6-1 0,-2-4 0,-5-3 0,0-4 0,-1 0 0,1 0 0,-5-4 0,-2-2 0,-4-4 0,0-1 0,0-11 0,0 9 0,5-15 0,2 10 0,5-6 0,0 0 0,0-6 0,0 4 0,1-11 0,-1 11 0,0-5 0,0 7 0,0 1 0,5-1 0,-4 5 0,3 3 0,-5 5 0,6-6 0,1 4 0,5-9 0,8 2 0,-6-4 0,13-2 0,-6 1 0,7-1 0,-7 1 0,-1 5 0,-8 3 0,-5 5 0,-1 5 0,-6-2 0,-1 8 0,-4-9 0,-20 9 0,5-3 0,-22 4 0,24 0 0,-4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7:07:11.95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753 0 24575,'-12'34'0,"-13"3"0,-10 27 0,-2-17 0,-2 18 0,13-26 0,6-7 0,-3-2 0,9-6 0,2-6 0,2 4 0,-2-4 0,-2 6 0,-8 0 0,8 6 0,-10 3 0,3 14 0,-6-6 0,-9 15 0,7-6 0,-7 1 0,15-4 0,-4-8 0,5 0 0,-1 0 0,2 0 0,0 0 0,11-7 0,-10 6 0,11-13 0,-6 12 0,0 3 0,0 1 0,-1 14 0,0-14 0,1 24 0,5-22 0,3 13 0,-1-17 0,4-6 0,-4-9 0,6-1 0,0-11 0,0 4 0,0-5 0,5-5 0,1-1 0,4-5 0,1 0 0,5 0 0,-4 0 0,11 0 0,-11 0 0,10 0 0,-4-6 0,6 5 0,0-10 0,6 4 0,2 0 0,1-4 0,4 4 0,-5 0 0,7-5 0,-7 11 0,6-5 0,-13 1 0,6 3 0,-8-3 0,1 0 0,0 3 0,0-3 0,-1 0 0,1 3 0,0-8 0,0 8 0,6-9 0,-4 10 0,4-11 0,-6 6 0,0-6 0,6-1 0,-4 1 0,11-7 0,-11 6 0,11-12 0,-12 6 0,6-1 0,-7-2 0,-1 9 0,-4-10 0,4-3 0,-4 1 0,14-14 0,-6 6 0,7-16 0,0 7 0,-5-6 0,5-1 0,-7 8 0,-7 1 0,5 2 0,-3-11 0,-2 13 0,1-19 0,-3 23 0,4-24 0,5 13 0,-5-13 0,3 16 0,-11 1 0,5 7 0,-2-4 0,-3-3 0,3 6 0,-4-5 0,-1 7 0,-5 11 0,4-9 0,-10 11 0,9-1 0,-9 3 0,4 10 0,-5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7:07:27.962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0 24575,'0'48'0,"0"10"0,0 41 0,0-31 0,0-15 0,0-2 0,0 9 0,0 17 0,0 0 0,0-1 0,0-8 0,0 7 0,0-16 0,0 15 0,0-15 0,0 7 0,0-9 0,0 0 0,0-1 0,0 1 0,6 0 0,2 0 0,6-1 0,0 1 0,0-8 0,0 6 0,-1-14 0,1 14 0,5-14 0,3 13 0,4-13 0,8 8 0,-6-10 0,13 4 0,-6-2 0,8 1 0,0 1 0,-8-2 0,4-6 0,-4 4 0,4-17 0,2 10 0,-9-18 0,-1 4 0,-8-6 0,-5-5 0,5-2 0,-11-5 0,10 0 0,-10 0 0,11-5 0,-11-2 0,10-10 0,-4-1 0,6-6 0,0 0 0,-5-7 0,3 6 0,-8-6 0,9 0 0,-9-1 0,5 0 0,-7-6 0,1 6 0,0-7 0,6-1 0,-5 1 0,11 0 0,-11 0 0,5 6 0,8-21 0,4 8 0,6-13 0,-1 2 0,-9 8 0,1 0 0,11-36 0,-10 37 0,4-46 0,-14 43 0,2-15 0,3-10 0,-1 22 0,-2-12 0,-7 19 0,-7 6 0,6-14 0,-6 14 0,1-6 0,-2 0 0,-6-2 0,0 0 0,0 2 0,0 8 0,0-1 0,0 1 0,0 0 0,0 0 0,0 6 0,-6-4 0,-1 11 0,0-4 0,-4 6 0,5 0 0,-6 6 0,5 1 0,-2 6 0,3 5 0,-4 1 0,-1 5 0,1 0 0,0 0 0,-1 0 0,5 0 0,1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30T07:08:03.16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11,'84'-6,"3"1,-19 5,18 0,-36 0,0 0,1 0,0 0,9 0,1 0,-4 0,-1 0,0 0,1 0,4 0,-1 0,32 0,-20 0,-1 0,9 0,-10 0,1 0,23 0,-38 0,1 0,-2 0,0 0,44 0,-10 0,8 0,-18 0,18 0,-8 0,0 0,7 0,-39 0,-1 0,30 0,-27 0,-1 0,22 0,9 0,-2 0,0 0,-8 0,-1 0,-4 0,-6 0,19 0,-8 0,8 0,-1 0,-6 0,16 0,-16 7,16-5,-17 5,8-7,-10 0,0 0,-10 0,8 0,-16 0,7 0,-1 7,28-6,-18 6,-25-3,-1-1,10-1,16 4,-16 1,15-6,-15 5,16 1,-16-5,7 5,-10-7,1 6,0-4,0 4,-1-6,1 0,0 6,19-4,-15 10,15-10,-11 4,3 1,9-5,-9 4,6 1,-15-5,7 5,-9-7,0 0,8 0,-6 6,7-4,-1 11,-6-12,7 13,-9-13,0 12,-8-12,5 6,-13-2,14-3,-14 4,6-6,-8 0,0 0,0 0,0 0,0 0,0 0,-6 5,4-4,-12 4,13-5,-13 0,12 6,-4-4,6 9,0-9,-7 3,5 1,-4-4,6 3,0-5,8 0,-6 0,5 0,1 0,-6 0,6 0,-14 0,-3 0,-6 0,0 0,-6 0,3 0,-9 0,8 0,2 0,8 0,7 0,10 0,-6 0,6 0,-8 0,-7 0,-7 0,-8 0,-7 0,6-4,-14-16,2 6,-15-16,5 19,-3 0,-6 2,2 8,-7-4,4 5,-1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4364E5-7041-D80E-7680-A2DF1EF13B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118644F-CCA6-DD88-7181-742A5F02B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AA27AE-7D47-8ECF-8D63-3CA98A02B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0E864CC-8AD1-DB92-28D2-53CCFDB47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43198E-E21D-1F12-7BEA-8F452AB41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674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522A89-B769-AF9E-E806-271F3EC2C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0A67CB-9AC2-AA31-3415-8724BA6209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8C22A3-8260-A727-B99B-E59246990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A4E933-B105-6612-DF93-85F006B96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CD19BC-CE21-A725-1AE4-ACF92D731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7337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13950B-6D17-B635-944A-E2D91E877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68045EC-E201-1E5B-D24C-71882238F0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075ACC1-95D6-D455-A7F0-6878D59A7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71D6397-6D30-2C16-D746-4F7B149B8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621B6F-60BE-CBE4-5174-3A90ADA96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5065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07B27-F25F-5734-2684-9B1F2D2D9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B09CA9-782C-FB4B-82D1-63612E8C03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0394D60-FE7E-1F10-6085-DE6EC1A59F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0F2CFA5-2DDB-4EE6-8CD2-D10FF41C7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A326F3-2851-ACB7-A279-21FDE68F9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35F0690-F3B9-79FC-47ED-970829831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5724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9C6551-137F-ABCE-FCC8-B68A6F0B5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0588918-BA77-990F-AF47-13E36FDD8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A576EEA-80F9-9CA3-C6CA-002FA76CFD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2293748-9D6A-605D-9A0F-77E74BE3D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8E6C17E-ABEE-AD78-DAE6-8B62B4436D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45B40EB-B107-5E8A-881F-9C5197A40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B79D347-6DC5-3D64-6F85-4590011C9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C6D6FA2-13E3-815B-45CB-811BCC166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0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254CF4-E1F1-C69A-9374-08BD79E54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FF5BA9B-BB8F-66B8-3533-8C894CD3F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67EA70-E790-9C27-2B71-0D97232F2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8FCFD8-13F1-6D75-31BD-A7D6DA9A5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7551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99020B4-0CD2-5C09-7A70-936F8FCDA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444310D-5507-9339-6544-070D12167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7D09B4B-3D24-8431-7BB5-90F93C5F9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5290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44C85E-6A21-3007-51EF-2B8841B31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B9A0DA-7EDE-C87C-B8C1-05A44BA44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DD2AA6-0522-44EE-E0D5-2D0507A735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CBD5E73-78E6-B543-94DB-46C17A2D6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01E54F1-DBCF-A14A-8ACE-F3A872F8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5D2AD5-23B2-F639-E235-F443AB9C0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9276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9A9730-30A3-911B-BDFD-F7D644E17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CB2FF89-CA37-E432-5703-B8151BAF01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87497BF-B4A4-0BF0-B8CF-6A3D225DC8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9E448C2-84E2-9EEB-70BE-5B1FC8310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738F898-D5A9-45BA-97F9-5714AC8C9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FAC1D46-5993-736B-309B-518980227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963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78738F-1591-4AF4-7A2A-62D328DEB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BF44F26-7C64-6EA3-27AB-46C1E2EDEF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1182A7-4D88-3514-2EC3-5B647B8DB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BFF26DF-5F01-1077-2BB4-C61E05777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97B8E6-8350-09A4-0C9D-EE466E6F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0522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6A53063-EC1B-1449-075F-182382DDC9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762212F-1448-5965-A729-E7D4F381B1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68530AB-8D15-3D09-5192-0ABD32DEE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F002F8-0A81-7F9D-FB19-BEDD3F217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B5F810-7DDC-BD62-2952-0A65E0ABC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8176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871718D-06AD-697C-F079-879B1DF76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DFC683-BBD7-C58E-8140-C12E821467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E653EF-D321-9411-AB1A-E57FBB8963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7B9DCE-2806-D243-A137-B4C1362D6AA1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6893C7-7A34-2641-993C-4A02210440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BCA9522-5432-3A2F-0E87-32408B1702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7164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customXml" Target="../ink/ink1.xml"/><Relationship Id="rId7" Type="http://schemas.openxmlformats.org/officeDocument/2006/relationships/image" Target="../media/image4.png"/><Relationship Id="rId2" Type="http://schemas.openxmlformats.org/officeDocument/2006/relationships/hyperlink" Target="https://www.kaggle.com/datasets/yessicatuteja/foggy-cityscapes-image-dataset" TargetMode="Externa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6.png"/><Relationship Id="rId5" Type="http://schemas.openxmlformats.org/officeDocument/2006/relationships/hyperlink" Target="https://www.kaggle.com/datasets/khitdon/foggy-cityscapes-yolo" TargetMode="External"/><Relationship Id="rId10" Type="http://schemas.openxmlformats.org/officeDocument/2006/relationships/customXml" Target="../ink/ink4.xml"/><Relationship Id="rId4" Type="http://schemas.openxmlformats.org/officeDocument/2006/relationships/image" Target="../media/image3.png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90DBCF6C-5B00-CC99-E96D-CDB928BBF2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60572" y="548714"/>
            <a:ext cx="6199847" cy="3242927"/>
          </a:xfrm>
        </p:spPr>
        <p:txBody>
          <a:bodyPr anchor="b">
            <a:normAutofit/>
          </a:bodyPr>
          <a:lstStyle/>
          <a:p>
            <a:r>
              <a:rPr lang="en-GB" sz="3600" dirty="0">
                <a:solidFill>
                  <a:schemeClr val="tx2"/>
                </a:solidFill>
              </a:rPr>
              <a:t>Co-Optimizing Diffractive Optics and Object Detection for Robust Perception in Adverse Weather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D62D144-989B-6987-A66E-A4D790AF1B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6478" y="4228024"/>
            <a:ext cx="5188034" cy="682079"/>
          </a:xfrm>
        </p:spPr>
        <p:txBody>
          <a:bodyPr>
            <a:normAutofit fontScale="92500" lnSpcReduction="20000"/>
          </a:bodyPr>
          <a:lstStyle/>
          <a:p>
            <a:r>
              <a:rPr lang="en-GB" sz="2000" dirty="0">
                <a:solidFill>
                  <a:schemeClr val="tx2"/>
                </a:solidFill>
              </a:rPr>
              <a:t>CSED520 – Computational Imaging</a:t>
            </a:r>
          </a:p>
          <a:p>
            <a:r>
              <a:rPr lang="en-GB" sz="2000" dirty="0" err="1">
                <a:solidFill>
                  <a:schemeClr val="tx2"/>
                </a:solidFill>
              </a:rPr>
              <a:t>Nikolo</a:t>
            </a:r>
            <a:r>
              <a:rPr lang="en-GB" sz="2000" dirty="0">
                <a:solidFill>
                  <a:schemeClr val="tx2"/>
                </a:solidFill>
              </a:rPr>
              <a:t> </a:t>
            </a:r>
            <a:r>
              <a:rPr lang="en-GB" sz="2000" dirty="0" err="1">
                <a:solidFill>
                  <a:schemeClr val="tx2"/>
                </a:solidFill>
              </a:rPr>
              <a:t>Rohrmoser</a:t>
            </a:r>
            <a:r>
              <a:rPr lang="en-GB" sz="2000" dirty="0">
                <a:solidFill>
                  <a:schemeClr val="tx2"/>
                </a:solidFill>
              </a:rPr>
              <a:t>, Wilmer Z, Michelle Reimann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650304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8B3E49-90BC-EA39-9D92-9AF892729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Motivation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4C7BC9-A00B-EE9F-75DB-6810A3371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Autonomous vehicles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86678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746942-B8F6-FA73-0648-FCA3A43AC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Previous Work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FF66A1C-7C4A-4931-0860-D7329594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735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D4B6CD-A168-5C50-AD9E-3CD36785B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2352379-A633-2791-F9F5-759E438C1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274280C-06AE-E70F-3620-117678C302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56936"/>
            <a:ext cx="7772400" cy="220899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3194FF7D-4F78-3EED-3783-49DA639F96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3697244"/>
            <a:ext cx="7772400" cy="2172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13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BD64DDFA-E0E6-2C22-A2F2-88BEA96A308B}"/>
              </a:ext>
            </a:extLst>
          </p:cNvPr>
          <p:cNvSpPr txBox="1"/>
          <p:nvPr/>
        </p:nvSpPr>
        <p:spPr>
          <a:xfrm>
            <a:off x="176136" y="2937613"/>
            <a:ext cx="82383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https://www.kaggle.com/datasets/yessicatuteja/foggy-cityscapes-image-dataset</a:t>
            </a:r>
            <a:br>
              <a:rPr lang="en-GB" dirty="0"/>
            </a:br>
            <a:r>
              <a:rPr lang="en-GB" dirty="0"/>
              <a:t>1500 simulated images (500 per no fog, medium fog, dense fog)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B146B29-CB29-0F3E-A4E8-C19C159F7714}"/>
              </a:ext>
            </a:extLst>
          </p:cNvPr>
          <p:cNvSpPr txBox="1"/>
          <p:nvPr/>
        </p:nvSpPr>
        <p:spPr>
          <a:xfrm>
            <a:off x="5336459" y="208917"/>
            <a:ext cx="1912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Cityscapes dataset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4129CDF-C0BD-83F1-0199-C906248A10DE}"/>
              </a:ext>
            </a:extLst>
          </p:cNvPr>
          <p:cNvSpPr txBox="1"/>
          <p:nvPr/>
        </p:nvSpPr>
        <p:spPr>
          <a:xfrm>
            <a:off x="5937008" y="1364939"/>
            <a:ext cx="52522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</a:t>
            </a:r>
            <a:r>
              <a:rPr lang="en-GB" dirty="0" err="1"/>
              <a:t>www.cityscapes-dataset.com</a:t>
            </a:r>
            <a:r>
              <a:rPr lang="en-GB" dirty="0"/>
              <a:t>/</a:t>
            </a:r>
            <a:r>
              <a:rPr lang="en-GB" dirty="0" err="1"/>
              <a:t>foggydownload</a:t>
            </a:r>
            <a:r>
              <a:rPr lang="en-GB" dirty="0"/>
              <a:t>/</a:t>
            </a:r>
            <a:br>
              <a:rPr lang="en-GB" dirty="0"/>
            </a:br>
            <a:r>
              <a:rPr lang="en-GB" dirty="0"/>
              <a:t>ETH Zürich, 25000 images with simulated fog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53EAB370-BBB1-A378-DE14-125A850C391B}"/>
                  </a:ext>
                </a:extLst>
              </p14:cNvPr>
              <p14:cNvContentPartPr/>
              <p14:nvPr/>
            </p14:nvContentPartPr>
            <p14:xfrm>
              <a:off x="6379196" y="602386"/>
              <a:ext cx="661320" cy="70200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53EAB370-BBB1-A378-DE14-125A850C391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43556" y="566746"/>
                <a:ext cx="732960" cy="77364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Textfeld 8">
            <a:extLst>
              <a:ext uri="{FF2B5EF4-FFF2-40B4-BE49-F238E27FC236}">
                <a16:creationId xmlns:a16="http://schemas.microsoft.com/office/drawing/2014/main" id="{D7F5AC3B-24D9-F008-6EBF-398E0E8222FD}"/>
              </a:ext>
            </a:extLst>
          </p:cNvPr>
          <p:cNvSpPr txBox="1"/>
          <p:nvPr/>
        </p:nvSpPr>
        <p:spPr>
          <a:xfrm>
            <a:off x="6110991" y="3836598"/>
            <a:ext cx="63824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5"/>
              </a:rPr>
              <a:t>https://www.kaggle.com/datasets/khitdon/foggy-cityscapes-yolo</a:t>
            </a:r>
            <a:br>
              <a:rPr lang="en-GB" dirty="0"/>
            </a:br>
            <a:r>
              <a:rPr lang="en-GB" dirty="0"/>
              <a:t>3475 images, no source mentioned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A4169A2D-351B-A392-C991-C01924FB7C50}"/>
                  </a:ext>
                </a:extLst>
              </p14:cNvPr>
              <p14:cNvContentPartPr/>
              <p14:nvPr/>
            </p14:nvContentPartPr>
            <p14:xfrm>
              <a:off x="5624168" y="2081591"/>
              <a:ext cx="625680" cy="601560"/>
            </p14:xfrm>
          </p:contentPart>
        </mc:Choice>
        <mc:Fallback xmlns=""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A4169A2D-351B-A392-C991-C01924FB7C5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88168" y="2045591"/>
                <a:ext cx="697320" cy="67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6" name="Freihand 15">
                <a:extLst>
                  <a:ext uri="{FF2B5EF4-FFF2-40B4-BE49-F238E27FC236}">
                    <a16:creationId xmlns:a16="http://schemas.microsoft.com/office/drawing/2014/main" id="{B5F5003E-E1C5-4824-6C0C-BDD4DEEE3DD5}"/>
                  </a:ext>
                </a:extLst>
              </p14:cNvPr>
              <p14:cNvContentPartPr/>
              <p14:nvPr/>
            </p14:nvContentPartPr>
            <p14:xfrm>
              <a:off x="9425768" y="2576231"/>
              <a:ext cx="563040" cy="842760"/>
            </p14:xfrm>
          </p:contentPart>
        </mc:Choice>
        <mc:Fallback xmlns="">
          <p:pic>
            <p:nvPicPr>
              <p:cNvPr id="16" name="Freihand 15">
                <a:extLst>
                  <a:ext uri="{FF2B5EF4-FFF2-40B4-BE49-F238E27FC236}">
                    <a16:creationId xmlns:a16="http://schemas.microsoft.com/office/drawing/2014/main" id="{B5F5003E-E1C5-4824-6C0C-BDD4DEEE3DD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390128" y="2540231"/>
                <a:ext cx="634680" cy="9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68064145-427D-E778-A818-40D82878A657}"/>
                  </a:ext>
                </a:extLst>
              </p14:cNvPr>
              <p14:cNvContentPartPr/>
              <p14:nvPr/>
            </p14:nvContentPartPr>
            <p14:xfrm>
              <a:off x="6214568" y="4312151"/>
              <a:ext cx="3283200" cy="975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68064145-427D-E778-A818-40D82878A65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160928" y="4204151"/>
                <a:ext cx="3390840" cy="3132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feld 21">
            <a:extLst>
              <a:ext uri="{FF2B5EF4-FFF2-40B4-BE49-F238E27FC236}">
                <a16:creationId xmlns:a16="http://schemas.microsoft.com/office/drawing/2014/main" id="{F0CDF945-F5E9-5B5C-6C02-BD16D851F206}"/>
              </a:ext>
            </a:extLst>
          </p:cNvPr>
          <p:cNvSpPr txBox="1"/>
          <p:nvPr/>
        </p:nvSpPr>
        <p:spPr>
          <a:xfrm>
            <a:off x="176136" y="1304386"/>
            <a:ext cx="5160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</a:t>
            </a:r>
            <a:r>
              <a:rPr lang="en-GB" dirty="0" err="1"/>
              <a:t>people.ee.ethz.ch</a:t>
            </a:r>
            <a:r>
              <a:rPr lang="en-GB" dirty="0"/>
              <a:t>/~</a:t>
            </a:r>
            <a:r>
              <a:rPr lang="en-GB" dirty="0" err="1"/>
              <a:t>csakarid</a:t>
            </a:r>
            <a:r>
              <a:rPr lang="en-GB" dirty="0"/>
              <a:t>/</a:t>
            </a:r>
            <a:r>
              <a:rPr lang="en-GB" dirty="0" err="1"/>
              <a:t>SFSU_synthetic</a:t>
            </a:r>
            <a:r>
              <a:rPr lang="en-GB" dirty="0"/>
              <a:t>/</a:t>
            </a:r>
            <a:br>
              <a:rPr lang="en-GB" dirty="0"/>
            </a:br>
            <a:r>
              <a:rPr lang="en-GB" dirty="0"/>
              <a:t>ETH Zürich, Foggy driving, 101 real world images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15BFF0B-D470-AD70-644C-10EF4E603BCC}"/>
              </a:ext>
            </a:extLst>
          </p:cNvPr>
          <p:cNvSpPr txBox="1"/>
          <p:nvPr/>
        </p:nvSpPr>
        <p:spPr>
          <a:xfrm>
            <a:off x="1643063" y="5657850"/>
            <a:ext cx="4605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DAWN:  303 foggy images with bounding boxes</a:t>
            </a:r>
          </a:p>
        </p:txBody>
      </p:sp>
    </p:spTree>
    <p:extLst>
      <p:ext uri="{BB962C8B-B14F-4D97-AF65-F5344CB8AC3E}">
        <p14:creationId xmlns:p14="http://schemas.microsoft.com/office/powerpoint/2010/main" val="2690319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D4B6CD-A168-5C50-AD9E-3CD36785B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Methods</a:t>
            </a: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55B0574-94C4-7F1B-FEEE-3FF27084EA3F}"/>
              </a:ext>
            </a:extLst>
          </p:cNvPr>
          <p:cNvGrpSpPr/>
          <p:nvPr/>
        </p:nvGrpSpPr>
        <p:grpSpPr>
          <a:xfrm>
            <a:off x="523406" y="1702478"/>
            <a:ext cx="3835399" cy="2335572"/>
            <a:chOff x="598357" y="1733256"/>
            <a:chExt cx="3835399" cy="2335572"/>
          </a:xfrm>
        </p:grpSpPr>
        <p:pic>
          <p:nvPicPr>
            <p:cNvPr id="3" name="Inhaltsplatzhalter 3">
              <a:extLst>
                <a:ext uri="{FF2B5EF4-FFF2-40B4-BE49-F238E27FC236}">
                  <a16:creationId xmlns:a16="http://schemas.microsoft.com/office/drawing/2014/main" id="{A595986F-E63C-2466-AC08-A88F98FA14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8357" y="2060020"/>
              <a:ext cx="3673515" cy="2008808"/>
            </a:xfrm>
            <a:prstGeom prst="rect">
              <a:avLst/>
            </a:prstGeom>
          </p:spPr>
        </p:pic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7A6BC039-F026-C7C2-6DFA-5AAF7EB1AB17}"/>
                </a:ext>
              </a:extLst>
            </p:cNvPr>
            <p:cNvSpPr txBox="1"/>
            <p:nvPr/>
          </p:nvSpPr>
          <p:spPr>
            <a:xfrm>
              <a:off x="598357" y="1733256"/>
              <a:ext cx="38353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 dirty="0"/>
                <a:t>Foggy Cityscape Images [1] (3475 images)</a:t>
              </a:r>
            </a:p>
          </p:txBody>
        </p:sp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C6294E53-1D5B-1A06-79A2-D3BDC0123A57}"/>
              </a:ext>
            </a:extLst>
          </p:cNvPr>
          <p:cNvSpPr txBox="1"/>
          <p:nvPr/>
        </p:nvSpPr>
        <p:spPr>
          <a:xfrm>
            <a:off x="-24240" y="6596390"/>
            <a:ext cx="49856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/>
              <a:t>[1] https://</a:t>
            </a:r>
            <a:r>
              <a:rPr lang="en-GB" sz="1100" dirty="0" err="1"/>
              <a:t>www.kaggle.com</a:t>
            </a:r>
            <a:r>
              <a:rPr lang="en-GB" sz="1100" dirty="0"/>
              <a:t>/datasets/</a:t>
            </a:r>
            <a:r>
              <a:rPr lang="en-GB" sz="1100" dirty="0" err="1"/>
              <a:t>yessicatuteja</a:t>
            </a:r>
            <a:r>
              <a:rPr lang="en-GB" sz="1100" dirty="0"/>
              <a:t>/foggy-cityscapes-image-dataset</a:t>
            </a:r>
          </a:p>
        </p:txBody>
      </p:sp>
    </p:spTree>
    <p:extLst>
      <p:ext uri="{BB962C8B-B14F-4D97-AF65-F5344CB8AC3E}">
        <p14:creationId xmlns:p14="http://schemas.microsoft.com/office/powerpoint/2010/main" val="4170129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ED5D77-FD35-65D0-2AFF-22427B35A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9331AF-7A11-4A8F-B7D7-55DF42BDB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39465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D24094-1376-A08E-CF0A-22471136F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88508B-9057-00BA-E3C1-847A46148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0115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</Words>
  <Application>Microsoft Macintosh PowerPoint</Application>
  <PresentationFormat>Breitbild</PresentationFormat>
  <Paragraphs>18</Paragraphs>
  <Slides>8</Slides>
  <Notes>0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</vt:lpstr>
      <vt:lpstr>Co-Optimizing Diffractive Optics and Object Detection for Robust Perception in Adverse Weather</vt:lpstr>
      <vt:lpstr>Motivation</vt:lpstr>
      <vt:lpstr>Previous Work</vt:lpstr>
      <vt:lpstr>Methods</vt:lpstr>
      <vt:lpstr>PowerPoint-Präsentation</vt:lpstr>
      <vt:lpstr>Methods</vt:lpstr>
      <vt:lpstr>Results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Co-Optimizing Diffractive Optics and Object Detection for Robust Perception in Adverse Weather</dc:title>
  <dc:creator>Michi Maxima</dc:creator>
  <cp:lastModifiedBy>Michi Maxima</cp:lastModifiedBy>
  <cp:revision>3</cp:revision>
  <dcterms:created xsi:type="dcterms:W3CDTF">2025-11-30T06:10:28Z</dcterms:created>
  <dcterms:modified xsi:type="dcterms:W3CDTF">2025-12-01T13:11:27Z</dcterms:modified>
</cp:coreProperties>
</file>