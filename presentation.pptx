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2.xml" ContentType="application/inkml+xml"/>
  <Override PartName="/ppt/ink/ink3.xml" ContentType="application/inkml+xml"/>
  <Override PartName="/ppt/ink/ink4.xml" ContentType="application/inkml+xml"/>
  <Override PartName="/ppt/ink/ink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65" r:id="rId3"/>
    <p:sldId id="257" r:id="rId4"/>
    <p:sldId id="266" r:id="rId5"/>
    <p:sldId id="258" r:id="rId6"/>
    <p:sldId id="259" r:id="rId7"/>
    <p:sldId id="262" r:id="rId8"/>
    <p:sldId id="267" r:id="rId9"/>
    <p:sldId id="260" r:id="rId10"/>
    <p:sldId id="261" r:id="rId11"/>
    <p:sldId id="263"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339"/>
    <p:restoredTop sz="89825"/>
  </p:normalViewPr>
  <p:slideViewPr>
    <p:cSldViewPr snapToGrid="0">
      <p:cViewPr>
        <p:scale>
          <a:sx n="92" d="100"/>
          <a:sy n="92" d="100"/>
        </p:scale>
        <p:origin x="1104" y="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8T08:46:27.027"/>
    </inkml:context>
    <inkml:brush xml:id="br0">
      <inkml:brushProperty name="width" value="0.05" units="cm"/>
      <inkml:brushProperty name="height" value="0.05" units="cm"/>
      <inkml:brushProperty name="color" value="#E71224"/>
    </inkml:brush>
  </inkml:definitions>
  <inkml:trace contextRef="#ctx0" brushRef="#br0">538 977 24575,'-11'0'0,"2"-3"0,-6-2 0,1-3 0,1-5 0,-4 3 0,4-6 0,-5 2 0,0-8 0,1 3 0,-1-3 0,4 5 0,-3-6 0,7 5 0,-7-5 0,7 6 0,-6 0 0,6-1 0,-3 1 0,4-6 0,0 5 0,0-5 0,1 6 0,-2-5 0,2 3 0,-2-3 0,6 4 0,-4 1 0,3 0 0,0-1 0,-2 5 0,6-3 0,-3-2 0,4-1 0,0-8 0,0 3 0,0-4 0,0-1 0,0 5 0,0 2 0,0 5 0,-4-1 0,3 5 0,-3 1 0,4 4 0,0 0 0,0 0 0,0 0 0,0 1 0,0-1 0,0 1 0,0-1 0,0 0 0,0 0 0,0-9 0,0 3 0,0-9 0,0 6 0,0 4 0,0-4 0,0 8 0,0-3 0,0 11 0,0 2 0,0 7 0,0 4 0,0 0 0,-3 1 0,-1 2 0,-1-7 0,-2 8 0,2-7 0,-3 3 0,0-5 0,0 1 0,0 0 0,0 0 0,0 0 0,0-1 0,0 1 0,4 0 0,-3 0 0,3 0 0,-4 0 0,3-1 0,-2 1 0,6 0 0,-6-4 0,3 3 0,-4-3 0,0 1 0,1-2 0,6-9 0,-1 0 0,8-4 0,-2 2 0,8-4 0,-4 4 0,0-4 0,-1 4 0,-2 0 0,2 0 0,1 0 0,0 0 0,0 4 0,-4-3 0,3 3 0,-3-4 0,4 0 0,0 0 0,0 0 0,-1 1 0,1 2 0,-4-2 0,3 7 0,-6-7 0,6 6 0,-3-3 0,3 4 0,1-3 0,-1 2 0,0-2 0,0 3 0,0 0 0,-3 3 0,2 5 0,-5 1 0,3 2 0,-4-3 0,3 0 0,-2-1 0,6 1 0,-6 0 0,6 0 0,-6 0 0,6 0 0,-6-1 0,5 1 0,-5 0 0,6-4 0,-6 3 0,6-3 0,-3 3 0,4 1 0,-1-4 0,1 3 0,0-3 0,0 0 0,-1 3 0,1-2 0,0 2 0,0-2 0,-1 1 0,0-5 0,1 3 0,-5-4 0,1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30T07:06:35.496"/>
    </inkml:context>
    <inkml:brush xml:id="br0">
      <inkml:brushProperty name="width" value="0.2" units="cm"/>
      <inkml:brushProperty name="height" value="0.2" units="cm"/>
      <inkml:brushProperty name="color" value="#E71224"/>
    </inkml:brush>
  </inkml:definitions>
  <inkml:trace contextRef="#ctx0" brushRef="#br0">1 1 24575,'5'36'0,"17"10"0,1-4 0,22 33 0,-9-27 0,11 35 0,-2-29 0,1 21 0,0-11 0,0 4 0,0-7 0,0 1 0,-8-3 0,-3-8 0,-7 4 0,-1-14 0,0 6 0,-1-8 0,-6 0 0,4 0 0,-9 0 0,9 0 0,-9 0 0,9 0 0,-9 0 0,10 0 0,-11 0 0,5 0 0,0 0 0,-5 0 0,12 8 0,-12-6 0,6 6 0,-1-8 0,-5 0 0,5 0 0,-6-6 0,-2-9 0,1-1 0,-1-11 0,0 4 0,-5-5 0,4 0 0,-18-5 0,0-7 0,-14-11 0,-2-1 0,0-10 0,1 10 0,-7-15 0,5 8 0,2-4 0,6 8 0,6 5 0,0 0 0,0 0 0,-5 0 0,3 0 0,-4 4 0,7-3 0,-1 9 0,0-9 0,0 4 0,-6 0 0,-1-4 0,-13 3 0,-1-6 0,-7 0 0,0 0 0,-1 0 0,1 0 0,7 0 0,1 0 0,7 1 0,6 6 0,1-5 0,20 10 0,15 12 0,7-2 0,16 14 0,-16-5 0,6-5 0,0 5 0,-6-6 0,6 0 0,-8 0 0,8 1 0,-6-1 0,6 0 0,-13-1 0,4 1 0,-10-1 0,11 1 0,-11-1 0,4-5 0,1 4 0,-5-4 0,4 5 0,1 1 0,1-1 0,6 1 0,6 0 0,-4 6 0,4-5 0,1 5 0,-6-1 0,13-3 0,-13 4 0,6-6 0,-8 0 0,1 0 0,0 0 0,-6-1 0,-2-4 0,-5-3 0,0-4 0,-1 0 0,1 0 0,-5-4 0,-2-2 0,-4-4 0,0-1 0,0-11 0,0 9 0,5-15 0,2 10 0,5-6 0,0 0 0,0-6 0,0 4 0,1-11 0,-1 11 0,0-5 0,0 7 0,0 1 0,5-1 0,-4 5 0,3 3 0,-5 5 0,6-6 0,1 4 0,5-9 0,8 2 0,-6-4 0,13-2 0,-6 1 0,7-1 0,-7 1 0,-1 5 0,-8 3 0,-5 5 0,-1 5 0,-6-2 0,-1 8 0,-4-9 0,-20 9 0,5-3 0,-22 4 0,24 0 0,-4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30T07:07:11.950"/>
    </inkml:context>
    <inkml:brush xml:id="br0">
      <inkml:brushProperty name="width" value="0.2" units="cm"/>
      <inkml:brushProperty name="height" value="0.2" units="cm"/>
      <inkml:brushProperty name="color" value="#E71224"/>
    </inkml:brush>
  </inkml:definitions>
  <inkml:trace contextRef="#ctx0" brushRef="#br0">753 0 24575,'-12'34'0,"-13"3"0,-10 27 0,-2-17 0,-2 18 0,13-26 0,6-7 0,-3-2 0,9-6 0,2-6 0,2 4 0,-2-4 0,-2 6 0,-8 0 0,8 6 0,-10 3 0,3 14 0,-6-6 0,-9 15 0,7-6 0,-7 1 0,15-4 0,-4-8 0,5 0 0,-1 0 0,2 0 0,0 0 0,11-7 0,-10 6 0,11-13 0,-6 12 0,0 3 0,0 1 0,-1 14 0,0-14 0,1 24 0,5-22 0,3 13 0,-1-17 0,4-6 0,-4-9 0,6-1 0,0-11 0,0 4 0,0-5 0,5-5 0,1-1 0,4-5 0,1 0 0,5 0 0,-4 0 0,11 0 0,-11 0 0,10 0 0,-4-6 0,6 5 0,0-10 0,6 4 0,2 0 0,1-4 0,4 4 0,-5 0 0,7-5 0,-7 11 0,6-5 0,-13 1 0,6 3 0,-8-3 0,1 0 0,0 3 0,0-3 0,-1 0 0,1 3 0,0-8 0,0 8 0,6-9 0,-4 10 0,4-11 0,-6 6 0,0-6 0,6-1 0,-4 1 0,11-7 0,-11 6 0,11-12 0,-12 6 0,6-1 0,-7-2 0,-1 9 0,-4-10 0,4-3 0,-4 1 0,14-14 0,-6 6 0,7-16 0,0 7 0,-5-6 0,5-1 0,-7 8 0,-7 1 0,5 2 0,-3-11 0,-2 13 0,1-19 0,-3 23 0,4-24 0,5 13 0,-5-13 0,3 16 0,-11 1 0,5 7 0,-2-4 0,-3-3 0,3 6 0,-4-5 0,-1 7 0,-5 11 0,4-9 0,-10 11 0,9-1 0,-9 3 0,4 10 0,-5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1-30T07:07:27.962"/>
    </inkml:context>
    <inkml:brush xml:id="br0">
      <inkml:brushProperty name="width" value="0.2" units="cm"/>
      <inkml:brushProperty name="height" value="0.2" units="cm"/>
      <inkml:brushProperty name="color" value="#E71224"/>
    </inkml:brush>
  </inkml:definitions>
  <inkml:trace contextRef="#ctx0" brushRef="#br0">1 0 24575,'0'48'0,"0"10"0,0 41 0,0-31 0,0-15 0,0-2 0,0 9 0,0 17 0,0 0 0,0-1 0,0-8 0,0 7 0,0-16 0,0 15 0,0-15 0,0 7 0,0-9 0,0 0 0,0-1 0,0 1 0,6 0 0,2 0 0,6-1 0,0 1 0,0-8 0,0 6 0,-1-14 0,1 14 0,5-14 0,3 13 0,4-13 0,8 8 0,-6-10 0,13 4 0,-6-2 0,8 1 0,0 1 0,-8-2 0,4-6 0,-4 4 0,4-17 0,2 10 0,-9-18 0,-1 4 0,-8-6 0,-5-5 0,5-2 0,-11-5 0,10 0 0,-10 0 0,11-5 0,-11-2 0,10-10 0,-4-1 0,6-6 0,0 0 0,-5-7 0,3 6 0,-8-6 0,9 0 0,-9-1 0,5 0 0,-7-6 0,1 6 0,0-7 0,6-1 0,-5 1 0,11 0 0,-11 0 0,5 6 0,8-21 0,4 8 0,6-13 0,-1 2 0,-9 8 0,1 0 0,11-36 0,-10 37 0,4-46 0,-14 43 0,2-15 0,3-10 0,-1 22 0,-2-12 0,-7 19 0,-7 6 0,6-14 0,-6 14 0,1-6 0,-2 0 0,-6-2 0,0 0 0,0 2 0,0 8 0,0-1 0,0 1 0,0 0 0,0 0 0,0 6 0,-6-4 0,-1 11 0,0-4 0,-4 6 0,5 0 0,-6 6 0,5 1 0,-2 6 0,3 5 0,-4 1 0,-1 5 0,1 0 0,0 0 0,-1 0 0,5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11-30T07:08:03.16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 11,'84'-6,"3"1,-19 5,18 0,-36 0,0 0,1 0,0 0,9 0,1 0,-4 0,-1 0,0 0,1 0,4 0,-1 0,32 0,-20 0,-1 0,9 0,-10 0,1 0,23 0,-38 0,1 0,-2 0,0 0,44 0,-10 0,8 0,-18 0,18 0,-8 0,0 0,7 0,-39 0,-1 0,30 0,-27 0,-1 0,22 0,9 0,-2 0,0 0,-8 0,-1 0,-4 0,-6 0,19 0,-8 0,8 0,-1 0,-6 0,16 0,-16 7,16-5,-17 5,8-7,-10 0,0 0,-10 0,8 0,-16 0,7 0,-1 7,28-6,-18 6,-25-3,-1-1,10-1,16 4,-16 1,15-6,-15 5,16 1,-16-5,7 5,-10-7,1 6,0-4,0 4,-1-6,1 0,0 6,19-4,-15 10,15-10,-11 4,3 1,9-5,-9 4,6 1,-15-5,7 5,-9-7,0 0,8 0,-6 6,7-4,-1 11,-6-12,7 13,-9-13,0 12,-8-12,5 6,-13-2,14-3,-14 4,6-6,-8 0,0 0,0 0,0 0,0 0,0 0,-6 5,4-4,-12 4,13-5,-13 0,12 6,-4-4,6 9,0-9,-7 3,5 1,-4-4,6 3,0-5,8 0,-6 0,5 0,1 0,-6 0,6 0,-14 0,-3 0,-6 0,0 0,-6 0,3 0,-9 0,8 0,2 0,8 0,7 0,10 0,-6 0,6 0,-8 0,-7 0,-7 0,-8 0,-7 0,6-4,-14-16,2 6,-15-16,5 19,-3 0,-6 2,2 8,-7-4,4 5,-1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A0E189-13FF-894E-9F49-C2160E79585A}" type="datetimeFigureOut">
              <a:rPr lang="en-GB" smtClean="0"/>
              <a:t>08/12/2025</a:t>
            </a:fld>
            <a:endParaRPr lang="en-GB"/>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60EB1A-5099-834C-85FD-CBA5DB11C771}" type="slidenum">
              <a:rPr lang="en-GB" smtClean="0"/>
              <a:t>‹Nr.›</a:t>
            </a:fld>
            <a:endParaRPr lang="en-GB"/>
          </a:p>
        </p:txBody>
      </p:sp>
    </p:spTree>
    <p:extLst>
      <p:ext uri="{BB962C8B-B14F-4D97-AF65-F5344CB8AC3E}">
        <p14:creationId xmlns:p14="http://schemas.microsoft.com/office/powerpoint/2010/main" val="14161075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FA60EB1A-5099-834C-85FD-CBA5DB11C771}" type="slidenum">
              <a:rPr lang="en-GB" smtClean="0"/>
              <a:t>1</a:t>
            </a:fld>
            <a:endParaRPr lang="en-GB"/>
          </a:p>
        </p:txBody>
      </p:sp>
    </p:spTree>
    <p:extLst>
      <p:ext uri="{BB962C8B-B14F-4D97-AF65-F5344CB8AC3E}">
        <p14:creationId xmlns:p14="http://schemas.microsoft.com/office/powerpoint/2010/main" val="44909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FA60EB1A-5099-834C-85FD-CBA5DB11C771}" type="slidenum">
              <a:rPr lang="en-GB" smtClean="0"/>
              <a:t>2</a:t>
            </a:fld>
            <a:endParaRPr lang="en-GB"/>
          </a:p>
        </p:txBody>
      </p:sp>
    </p:spTree>
    <p:extLst>
      <p:ext uri="{BB962C8B-B14F-4D97-AF65-F5344CB8AC3E}">
        <p14:creationId xmlns:p14="http://schemas.microsoft.com/office/powerpoint/2010/main" val="2997282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GB" dirty="0"/>
          </a:p>
        </p:txBody>
      </p:sp>
      <p:sp>
        <p:nvSpPr>
          <p:cNvPr id="4" name="Foliennummernplatzhalter 3"/>
          <p:cNvSpPr>
            <a:spLocks noGrp="1"/>
          </p:cNvSpPr>
          <p:nvPr>
            <p:ph type="sldNum" sz="quarter" idx="5"/>
          </p:nvPr>
        </p:nvSpPr>
        <p:spPr/>
        <p:txBody>
          <a:bodyPr/>
          <a:lstStyle/>
          <a:p>
            <a:fld id="{FA60EB1A-5099-834C-85FD-CBA5DB11C771}" type="slidenum">
              <a:rPr lang="en-GB" smtClean="0"/>
              <a:t>3</a:t>
            </a:fld>
            <a:endParaRPr lang="en-GB"/>
          </a:p>
        </p:txBody>
      </p:sp>
    </p:spTree>
    <p:extLst>
      <p:ext uri="{BB962C8B-B14F-4D97-AF65-F5344CB8AC3E}">
        <p14:creationId xmlns:p14="http://schemas.microsoft.com/office/powerpoint/2010/main" val="42106478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Use </a:t>
            </a:r>
            <a:r>
              <a:rPr lang="de-DE" b="1" dirty="0" err="1"/>
              <a:t>pado</a:t>
            </a:r>
            <a:r>
              <a:rPr lang="de-DE" dirty="0"/>
              <a:t> </a:t>
            </a:r>
            <a:r>
              <a:rPr lang="de-DE" dirty="0" err="1"/>
              <a:t>framework</a:t>
            </a:r>
            <a:r>
              <a:rPr lang="de-DE" dirty="0"/>
              <a:t> </a:t>
            </a:r>
            <a:r>
              <a:rPr lang="de-DE" dirty="0" err="1"/>
              <a:t>to</a:t>
            </a:r>
            <a:r>
              <a:rPr lang="de-DE" dirty="0"/>
              <a:t> </a:t>
            </a:r>
            <a:r>
              <a:rPr lang="de-DE" dirty="0" err="1"/>
              <a:t>simulate</a:t>
            </a:r>
            <a:r>
              <a:rPr lang="de-DE" dirty="0"/>
              <a:t> </a:t>
            </a:r>
            <a:r>
              <a:rPr lang="de-DE" dirty="0" err="1"/>
              <a:t>diffractive</a:t>
            </a:r>
            <a:r>
              <a:rPr lang="de-DE" dirty="0"/>
              <a:t> </a:t>
            </a:r>
            <a:r>
              <a:rPr lang="de-DE" dirty="0" err="1"/>
              <a:t>optical</a:t>
            </a:r>
            <a:r>
              <a:rPr lang="de-DE" dirty="0"/>
              <a:t> </a:t>
            </a:r>
            <a:r>
              <a:rPr lang="de-DE" dirty="0" err="1"/>
              <a:t>elements</a:t>
            </a:r>
            <a:r>
              <a:rPr lang="de-DE" dirty="0"/>
              <a:t> (DOE).</a:t>
            </a:r>
          </a:p>
          <a:p>
            <a:r>
              <a:rPr lang="de-DE" dirty="0"/>
              <a:t>Model </a:t>
            </a:r>
            <a:r>
              <a:rPr lang="de-DE" dirty="0" err="1"/>
              <a:t>assumes</a:t>
            </a:r>
            <a:r>
              <a:rPr lang="de-DE" dirty="0"/>
              <a:t> </a:t>
            </a:r>
            <a:r>
              <a:rPr lang="de-DE" dirty="0" err="1"/>
              <a:t>depth</a:t>
            </a:r>
            <a:r>
              <a:rPr lang="de-DE" dirty="0"/>
              <a:t>-independent </a:t>
            </a:r>
            <a:r>
              <a:rPr lang="de-DE" dirty="0" err="1"/>
              <a:t>point</a:t>
            </a:r>
            <a:r>
              <a:rPr lang="de-DE" dirty="0"/>
              <a:t> </a:t>
            </a:r>
            <a:r>
              <a:rPr lang="de-DE" dirty="0" err="1"/>
              <a:t>spread</a:t>
            </a:r>
            <a:r>
              <a:rPr lang="de-DE" dirty="0"/>
              <a:t> </a:t>
            </a:r>
            <a:r>
              <a:rPr lang="de-DE" dirty="0" err="1"/>
              <a:t>function</a:t>
            </a:r>
            <a:r>
              <a:rPr lang="de-DE" dirty="0"/>
              <a:t> (PSF).</a:t>
            </a:r>
          </a:p>
          <a:p>
            <a:r>
              <a:rPr lang="de-DE" dirty="0"/>
              <a:t>Optical </a:t>
            </a:r>
            <a:r>
              <a:rPr lang="de-DE" dirty="0" err="1"/>
              <a:t>simulation</a:t>
            </a:r>
            <a:r>
              <a:rPr lang="de-DE" dirty="0"/>
              <a:t> </a:t>
            </a:r>
            <a:r>
              <a:rPr lang="de-DE" dirty="0" err="1"/>
              <a:t>processes</a:t>
            </a:r>
            <a:r>
              <a:rPr lang="de-DE" dirty="0"/>
              <a:t> RGB </a:t>
            </a:r>
            <a:r>
              <a:rPr lang="de-DE" dirty="0" err="1"/>
              <a:t>images</a:t>
            </a:r>
            <a:r>
              <a:rPr lang="de-DE" dirty="0"/>
              <a:t> </a:t>
            </a:r>
            <a:r>
              <a:rPr lang="de-DE" dirty="0" err="1"/>
              <a:t>before</a:t>
            </a:r>
            <a:r>
              <a:rPr lang="de-DE" dirty="0"/>
              <a:t> </a:t>
            </a:r>
            <a:r>
              <a:rPr lang="de-DE" dirty="0" err="1"/>
              <a:t>detection</a:t>
            </a:r>
            <a:r>
              <a:rPr lang="de-DE" dirty="0"/>
              <a:t>.</a:t>
            </a:r>
          </a:p>
          <a:p>
            <a:r>
              <a:rPr lang="de-DE" dirty="0" err="1"/>
              <a:t>Enables</a:t>
            </a:r>
            <a:r>
              <a:rPr lang="de-DE" dirty="0"/>
              <a:t> </a:t>
            </a:r>
            <a:r>
              <a:rPr lang="de-DE" dirty="0" err="1"/>
              <a:t>gradient-based</a:t>
            </a:r>
            <a:r>
              <a:rPr lang="de-DE" dirty="0"/>
              <a:t> </a:t>
            </a:r>
            <a:r>
              <a:rPr lang="de-DE" dirty="0" err="1"/>
              <a:t>optimization</a:t>
            </a:r>
            <a:r>
              <a:rPr lang="de-DE" dirty="0"/>
              <a:t> </a:t>
            </a:r>
            <a:r>
              <a:rPr lang="de-DE" dirty="0" err="1"/>
              <a:t>of</a:t>
            </a:r>
            <a:r>
              <a:rPr lang="de-DE" dirty="0"/>
              <a:t> </a:t>
            </a:r>
            <a:r>
              <a:rPr lang="de-DE" dirty="0" err="1"/>
              <a:t>both</a:t>
            </a:r>
            <a:r>
              <a:rPr lang="de-DE" dirty="0"/>
              <a:t> DOE </a:t>
            </a:r>
            <a:r>
              <a:rPr lang="de-DE" dirty="0" err="1"/>
              <a:t>pattern</a:t>
            </a:r>
            <a:r>
              <a:rPr lang="de-DE" dirty="0"/>
              <a:t> and network </a:t>
            </a:r>
            <a:r>
              <a:rPr lang="de-DE" dirty="0" err="1"/>
              <a:t>parameters</a:t>
            </a:r>
            <a:r>
              <a:rPr lang="de-DE" dirty="0"/>
              <a:t>.</a:t>
            </a:r>
            <a:br>
              <a:rPr lang="de-DE" dirty="0"/>
            </a:br>
            <a:br>
              <a:rPr lang="de-DE" dirty="0"/>
            </a:br>
            <a:r>
              <a:rPr lang="de-DE" dirty="0"/>
              <a:t>YOLO11n </a:t>
            </a:r>
            <a:r>
              <a:rPr lang="de-DE" dirty="0" err="1"/>
              <a:t>adopted</a:t>
            </a:r>
            <a:r>
              <a:rPr lang="de-DE" dirty="0"/>
              <a:t> </a:t>
            </a:r>
            <a:r>
              <a:rPr lang="de-DE" dirty="0" err="1"/>
              <a:t>as</a:t>
            </a:r>
            <a:r>
              <a:rPr lang="de-DE" dirty="0"/>
              <a:t> </a:t>
            </a:r>
            <a:r>
              <a:rPr lang="de-DE" dirty="0" err="1"/>
              <a:t>baseline</a:t>
            </a:r>
            <a:r>
              <a:rPr lang="de-DE" dirty="0"/>
              <a:t> </a:t>
            </a:r>
            <a:r>
              <a:rPr lang="de-DE" dirty="0" err="1"/>
              <a:t>detector</a:t>
            </a:r>
            <a:r>
              <a:rPr lang="de-DE" dirty="0"/>
              <a:t> (</a:t>
            </a:r>
            <a:r>
              <a:rPr lang="de-DE" dirty="0" err="1"/>
              <a:t>accuracy</a:t>
            </a:r>
            <a:r>
              <a:rPr lang="de-DE" dirty="0"/>
              <a:t>–</a:t>
            </a:r>
            <a:r>
              <a:rPr lang="de-DE" dirty="0" err="1"/>
              <a:t>efficiency</a:t>
            </a:r>
            <a:r>
              <a:rPr lang="de-DE" dirty="0"/>
              <a:t> </a:t>
            </a:r>
            <a:r>
              <a:rPr lang="de-DE" dirty="0" err="1"/>
              <a:t>tradeoff</a:t>
            </a:r>
            <a:r>
              <a:rPr lang="de-DE" dirty="0"/>
              <a:t>).</a:t>
            </a:r>
          </a:p>
          <a:p>
            <a:r>
              <a:rPr lang="de-DE" dirty="0"/>
              <a:t>Optical </a:t>
            </a:r>
            <a:r>
              <a:rPr lang="de-DE" dirty="0" err="1"/>
              <a:t>simulation</a:t>
            </a:r>
            <a:r>
              <a:rPr lang="de-DE" dirty="0"/>
              <a:t> </a:t>
            </a:r>
            <a:r>
              <a:rPr lang="de-DE" dirty="0" err="1"/>
              <a:t>output</a:t>
            </a:r>
            <a:r>
              <a:rPr lang="de-DE" dirty="0"/>
              <a:t> </a:t>
            </a:r>
            <a:r>
              <a:rPr lang="de-DE" dirty="0" err="1"/>
              <a:t>fed</a:t>
            </a:r>
            <a:r>
              <a:rPr lang="de-DE" dirty="0"/>
              <a:t> </a:t>
            </a:r>
            <a:r>
              <a:rPr lang="de-DE" dirty="0" err="1"/>
              <a:t>directly</a:t>
            </a:r>
            <a:r>
              <a:rPr lang="de-DE" dirty="0"/>
              <a:t> </a:t>
            </a:r>
            <a:r>
              <a:rPr lang="de-DE" dirty="0" err="1"/>
              <a:t>into</a:t>
            </a:r>
            <a:r>
              <a:rPr lang="de-DE" dirty="0"/>
              <a:t> YOLO </a:t>
            </a:r>
            <a:r>
              <a:rPr lang="de-DE" dirty="0" err="1"/>
              <a:t>pipeline</a:t>
            </a:r>
            <a:r>
              <a:rPr lang="de-DE" dirty="0"/>
              <a:t>.</a:t>
            </a:r>
          </a:p>
          <a:p>
            <a:r>
              <a:rPr lang="de-DE" dirty="0"/>
              <a:t>End-</a:t>
            </a:r>
            <a:r>
              <a:rPr lang="de-DE" dirty="0" err="1"/>
              <a:t>to</a:t>
            </a:r>
            <a:r>
              <a:rPr lang="de-DE" dirty="0"/>
              <a:t>-end </a:t>
            </a:r>
            <a:r>
              <a:rPr lang="de-DE" dirty="0" err="1"/>
              <a:t>training</a:t>
            </a:r>
            <a:r>
              <a:rPr lang="de-DE" dirty="0"/>
              <a:t> </a:t>
            </a:r>
            <a:r>
              <a:rPr lang="de-DE" dirty="0" err="1"/>
              <a:t>optimizes</a:t>
            </a:r>
            <a:r>
              <a:rPr lang="de-DE" dirty="0"/>
              <a:t>:</a:t>
            </a:r>
          </a:p>
          <a:p>
            <a:pPr>
              <a:buFont typeface="Arial" panose="020B0604020202020204" pitchFamily="34" charset="0"/>
              <a:buChar char="•"/>
            </a:pPr>
            <a:r>
              <a:rPr lang="de-DE" dirty="0"/>
              <a:t>DOE </a:t>
            </a:r>
            <a:r>
              <a:rPr lang="de-DE" dirty="0" err="1"/>
              <a:t>phase</a:t>
            </a:r>
            <a:r>
              <a:rPr lang="de-DE" dirty="0"/>
              <a:t> </a:t>
            </a:r>
            <a:r>
              <a:rPr lang="de-DE" dirty="0" err="1"/>
              <a:t>profile</a:t>
            </a:r>
            <a:endParaRPr lang="de-DE" dirty="0"/>
          </a:p>
          <a:p>
            <a:pPr>
              <a:buFont typeface="Arial" panose="020B0604020202020204" pitchFamily="34" charset="0"/>
              <a:buChar char="•"/>
            </a:pPr>
            <a:r>
              <a:rPr lang="de-DE" dirty="0" err="1"/>
              <a:t>Detector</a:t>
            </a:r>
            <a:r>
              <a:rPr lang="de-DE" dirty="0"/>
              <a:t> </a:t>
            </a:r>
            <a:r>
              <a:rPr lang="de-DE" dirty="0" err="1"/>
              <a:t>weights</a:t>
            </a:r>
            <a:endParaRPr lang="de-DE" dirty="0"/>
          </a:p>
          <a:p>
            <a:r>
              <a:rPr lang="de-DE" dirty="0" err="1"/>
              <a:t>Uses</a:t>
            </a:r>
            <a:r>
              <a:rPr lang="de-DE" dirty="0"/>
              <a:t> </a:t>
            </a:r>
            <a:r>
              <a:rPr lang="de-DE" dirty="0" err="1"/>
              <a:t>Ultralytics</a:t>
            </a:r>
            <a:r>
              <a:rPr lang="de-DE" dirty="0"/>
              <a:t> </a:t>
            </a:r>
            <a:r>
              <a:rPr lang="de-DE" dirty="0" err="1"/>
              <a:t>standard</a:t>
            </a:r>
            <a:r>
              <a:rPr lang="de-DE" dirty="0"/>
              <a:t> </a:t>
            </a:r>
            <a:r>
              <a:rPr lang="de-DE" dirty="0" err="1"/>
              <a:t>training</a:t>
            </a:r>
            <a:r>
              <a:rPr lang="de-DE" dirty="0"/>
              <a:t> </a:t>
            </a:r>
            <a:r>
              <a:rPr lang="de-DE" dirty="0" err="1"/>
              <a:t>pipeline</a:t>
            </a:r>
            <a:r>
              <a:rPr lang="de-DE" dirty="0"/>
              <a:t> </a:t>
            </a:r>
            <a:r>
              <a:rPr lang="de-DE" dirty="0" err="1"/>
              <a:t>for</a:t>
            </a:r>
            <a:r>
              <a:rPr lang="de-DE" dirty="0"/>
              <a:t> </a:t>
            </a:r>
            <a:r>
              <a:rPr lang="de-DE" dirty="0" err="1"/>
              <a:t>stability</a:t>
            </a:r>
            <a:r>
              <a:rPr lang="de-DE" dirty="0"/>
              <a:t> and </a:t>
            </a:r>
            <a:r>
              <a:rPr lang="de-DE" dirty="0" err="1"/>
              <a:t>reproducibility</a:t>
            </a:r>
            <a:r>
              <a:rPr lang="de-DE" dirty="0"/>
              <a:t>.</a:t>
            </a:r>
          </a:p>
          <a:p>
            <a:endParaRPr lang="de-DE" dirty="0"/>
          </a:p>
          <a:p>
            <a:endParaRPr lang="en-GB" dirty="0"/>
          </a:p>
        </p:txBody>
      </p:sp>
      <p:sp>
        <p:nvSpPr>
          <p:cNvPr id="4" name="Foliennummernplatzhalter 3"/>
          <p:cNvSpPr>
            <a:spLocks noGrp="1"/>
          </p:cNvSpPr>
          <p:nvPr>
            <p:ph type="sldNum" sz="quarter" idx="5"/>
          </p:nvPr>
        </p:nvSpPr>
        <p:spPr/>
        <p:txBody>
          <a:bodyPr/>
          <a:lstStyle/>
          <a:p>
            <a:fld id="{FA60EB1A-5099-834C-85FD-CBA5DB11C771}" type="slidenum">
              <a:rPr lang="en-GB" smtClean="0"/>
              <a:t>7</a:t>
            </a:fld>
            <a:endParaRPr lang="en-GB"/>
          </a:p>
        </p:txBody>
      </p:sp>
    </p:spTree>
    <p:extLst>
      <p:ext uri="{BB962C8B-B14F-4D97-AF65-F5344CB8AC3E}">
        <p14:creationId xmlns:p14="http://schemas.microsoft.com/office/powerpoint/2010/main" val="25515979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Use </a:t>
            </a:r>
            <a:r>
              <a:rPr lang="de-DE" b="1" dirty="0" err="1"/>
              <a:t>pado</a:t>
            </a:r>
            <a:r>
              <a:rPr lang="de-DE" dirty="0"/>
              <a:t> </a:t>
            </a:r>
            <a:r>
              <a:rPr lang="de-DE" dirty="0" err="1"/>
              <a:t>framework</a:t>
            </a:r>
            <a:r>
              <a:rPr lang="de-DE" dirty="0"/>
              <a:t> </a:t>
            </a:r>
            <a:r>
              <a:rPr lang="de-DE" dirty="0" err="1"/>
              <a:t>to</a:t>
            </a:r>
            <a:r>
              <a:rPr lang="de-DE" dirty="0"/>
              <a:t> </a:t>
            </a:r>
            <a:r>
              <a:rPr lang="de-DE" dirty="0" err="1"/>
              <a:t>simulate</a:t>
            </a:r>
            <a:r>
              <a:rPr lang="de-DE" dirty="0"/>
              <a:t> </a:t>
            </a:r>
            <a:r>
              <a:rPr lang="de-DE" dirty="0" err="1"/>
              <a:t>diffractive</a:t>
            </a:r>
            <a:r>
              <a:rPr lang="de-DE" dirty="0"/>
              <a:t> </a:t>
            </a:r>
            <a:r>
              <a:rPr lang="de-DE" dirty="0" err="1"/>
              <a:t>optical</a:t>
            </a:r>
            <a:r>
              <a:rPr lang="de-DE" dirty="0"/>
              <a:t> </a:t>
            </a:r>
            <a:r>
              <a:rPr lang="de-DE" dirty="0" err="1"/>
              <a:t>elements</a:t>
            </a:r>
            <a:r>
              <a:rPr lang="de-DE" dirty="0"/>
              <a:t> (DOE).</a:t>
            </a:r>
          </a:p>
          <a:p>
            <a:r>
              <a:rPr lang="de-DE" dirty="0"/>
              <a:t>Model </a:t>
            </a:r>
            <a:r>
              <a:rPr lang="de-DE" dirty="0" err="1"/>
              <a:t>assumes</a:t>
            </a:r>
            <a:r>
              <a:rPr lang="de-DE" dirty="0"/>
              <a:t> </a:t>
            </a:r>
            <a:r>
              <a:rPr lang="de-DE" dirty="0" err="1"/>
              <a:t>depth</a:t>
            </a:r>
            <a:r>
              <a:rPr lang="de-DE" dirty="0"/>
              <a:t>-independent </a:t>
            </a:r>
            <a:r>
              <a:rPr lang="de-DE" dirty="0" err="1"/>
              <a:t>point</a:t>
            </a:r>
            <a:r>
              <a:rPr lang="de-DE" dirty="0"/>
              <a:t> </a:t>
            </a:r>
            <a:r>
              <a:rPr lang="de-DE" dirty="0" err="1"/>
              <a:t>spread</a:t>
            </a:r>
            <a:r>
              <a:rPr lang="de-DE" dirty="0"/>
              <a:t> </a:t>
            </a:r>
            <a:r>
              <a:rPr lang="de-DE" dirty="0" err="1"/>
              <a:t>function</a:t>
            </a:r>
            <a:r>
              <a:rPr lang="de-DE" dirty="0"/>
              <a:t> (PSF).</a:t>
            </a:r>
          </a:p>
          <a:p>
            <a:r>
              <a:rPr lang="de-DE" dirty="0"/>
              <a:t>Optical </a:t>
            </a:r>
            <a:r>
              <a:rPr lang="de-DE" dirty="0" err="1"/>
              <a:t>simulation</a:t>
            </a:r>
            <a:r>
              <a:rPr lang="de-DE" dirty="0"/>
              <a:t> </a:t>
            </a:r>
            <a:r>
              <a:rPr lang="de-DE" dirty="0" err="1"/>
              <a:t>processes</a:t>
            </a:r>
            <a:r>
              <a:rPr lang="de-DE" dirty="0"/>
              <a:t> RGB </a:t>
            </a:r>
            <a:r>
              <a:rPr lang="de-DE" dirty="0" err="1"/>
              <a:t>images</a:t>
            </a:r>
            <a:r>
              <a:rPr lang="de-DE" dirty="0"/>
              <a:t> </a:t>
            </a:r>
            <a:r>
              <a:rPr lang="de-DE" dirty="0" err="1"/>
              <a:t>before</a:t>
            </a:r>
            <a:r>
              <a:rPr lang="de-DE" dirty="0"/>
              <a:t> </a:t>
            </a:r>
            <a:r>
              <a:rPr lang="de-DE" dirty="0" err="1"/>
              <a:t>detection</a:t>
            </a:r>
            <a:r>
              <a:rPr lang="de-DE" dirty="0"/>
              <a:t>.</a:t>
            </a:r>
          </a:p>
          <a:p>
            <a:r>
              <a:rPr lang="de-DE" dirty="0" err="1"/>
              <a:t>Enables</a:t>
            </a:r>
            <a:r>
              <a:rPr lang="de-DE" dirty="0"/>
              <a:t> </a:t>
            </a:r>
            <a:r>
              <a:rPr lang="de-DE" dirty="0" err="1"/>
              <a:t>gradient-based</a:t>
            </a:r>
            <a:r>
              <a:rPr lang="de-DE" dirty="0"/>
              <a:t> </a:t>
            </a:r>
            <a:r>
              <a:rPr lang="de-DE" dirty="0" err="1"/>
              <a:t>optimization</a:t>
            </a:r>
            <a:r>
              <a:rPr lang="de-DE" dirty="0"/>
              <a:t> </a:t>
            </a:r>
            <a:r>
              <a:rPr lang="de-DE" dirty="0" err="1"/>
              <a:t>of</a:t>
            </a:r>
            <a:r>
              <a:rPr lang="de-DE" dirty="0"/>
              <a:t> </a:t>
            </a:r>
            <a:r>
              <a:rPr lang="de-DE" dirty="0" err="1"/>
              <a:t>both</a:t>
            </a:r>
            <a:r>
              <a:rPr lang="de-DE" dirty="0"/>
              <a:t> DOE </a:t>
            </a:r>
            <a:r>
              <a:rPr lang="de-DE" dirty="0" err="1"/>
              <a:t>pattern</a:t>
            </a:r>
            <a:r>
              <a:rPr lang="de-DE" dirty="0"/>
              <a:t> and network </a:t>
            </a:r>
            <a:r>
              <a:rPr lang="de-DE" dirty="0" err="1"/>
              <a:t>parameters</a:t>
            </a:r>
            <a:r>
              <a:rPr lang="de-DE" dirty="0"/>
              <a:t>.</a:t>
            </a:r>
            <a:br>
              <a:rPr lang="de-DE" dirty="0"/>
            </a:br>
            <a:br>
              <a:rPr lang="de-DE" dirty="0"/>
            </a:br>
            <a:r>
              <a:rPr lang="de-DE" dirty="0"/>
              <a:t>YOLO11n </a:t>
            </a:r>
            <a:r>
              <a:rPr lang="de-DE" dirty="0" err="1"/>
              <a:t>adopted</a:t>
            </a:r>
            <a:r>
              <a:rPr lang="de-DE" dirty="0"/>
              <a:t> </a:t>
            </a:r>
            <a:r>
              <a:rPr lang="de-DE" dirty="0" err="1"/>
              <a:t>as</a:t>
            </a:r>
            <a:r>
              <a:rPr lang="de-DE" dirty="0"/>
              <a:t> </a:t>
            </a:r>
            <a:r>
              <a:rPr lang="de-DE" dirty="0" err="1"/>
              <a:t>baseline</a:t>
            </a:r>
            <a:r>
              <a:rPr lang="de-DE" dirty="0"/>
              <a:t> </a:t>
            </a:r>
            <a:r>
              <a:rPr lang="de-DE" dirty="0" err="1"/>
              <a:t>detector</a:t>
            </a:r>
            <a:r>
              <a:rPr lang="de-DE" dirty="0"/>
              <a:t> (</a:t>
            </a:r>
            <a:r>
              <a:rPr lang="de-DE" dirty="0" err="1"/>
              <a:t>accuracy</a:t>
            </a:r>
            <a:r>
              <a:rPr lang="de-DE" dirty="0"/>
              <a:t>–</a:t>
            </a:r>
            <a:r>
              <a:rPr lang="de-DE" dirty="0" err="1"/>
              <a:t>efficiency</a:t>
            </a:r>
            <a:r>
              <a:rPr lang="de-DE" dirty="0"/>
              <a:t> </a:t>
            </a:r>
            <a:r>
              <a:rPr lang="de-DE" dirty="0" err="1"/>
              <a:t>tradeoff</a:t>
            </a:r>
            <a:r>
              <a:rPr lang="de-DE" dirty="0"/>
              <a:t>).</a:t>
            </a:r>
          </a:p>
          <a:p>
            <a:r>
              <a:rPr lang="de-DE" dirty="0"/>
              <a:t>Optical </a:t>
            </a:r>
            <a:r>
              <a:rPr lang="de-DE" dirty="0" err="1"/>
              <a:t>simulation</a:t>
            </a:r>
            <a:r>
              <a:rPr lang="de-DE" dirty="0"/>
              <a:t> </a:t>
            </a:r>
            <a:r>
              <a:rPr lang="de-DE" dirty="0" err="1"/>
              <a:t>output</a:t>
            </a:r>
            <a:r>
              <a:rPr lang="de-DE" dirty="0"/>
              <a:t> </a:t>
            </a:r>
            <a:r>
              <a:rPr lang="de-DE" dirty="0" err="1"/>
              <a:t>fed</a:t>
            </a:r>
            <a:r>
              <a:rPr lang="de-DE" dirty="0"/>
              <a:t> </a:t>
            </a:r>
            <a:r>
              <a:rPr lang="de-DE" dirty="0" err="1"/>
              <a:t>directly</a:t>
            </a:r>
            <a:r>
              <a:rPr lang="de-DE" dirty="0"/>
              <a:t> </a:t>
            </a:r>
            <a:r>
              <a:rPr lang="de-DE" dirty="0" err="1"/>
              <a:t>into</a:t>
            </a:r>
            <a:r>
              <a:rPr lang="de-DE" dirty="0"/>
              <a:t> YOLO </a:t>
            </a:r>
            <a:r>
              <a:rPr lang="de-DE" dirty="0" err="1"/>
              <a:t>pipeline</a:t>
            </a:r>
            <a:r>
              <a:rPr lang="de-DE" dirty="0"/>
              <a:t>.</a:t>
            </a:r>
          </a:p>
          <a:p>
            <a:r>
              <a:rPr lang="de-DE" dirty="0"/>
              <a:t>End-</a:t>
            </a:r>
            <a:r>
              <a:rPr lang="de-DE" dirty="0" err="1"/>
              <a:t>to</a:t>
            </a:r>
            <a:r>
              <a:rPr lang="de-DE" dirty="0"/>
              <a:t>-end </a:t>
            </a:r>
            <a:r>
              <a:rPr lang="de-DE" dirty="0" err="1"/>
              <a:t>training</a:t>
            </a:r>
            <a:r>
              <a:rPr lang="de-DE" dirty="0"/>
              <a:t> </a:t>
            </a:r>
            <a:r>
              <a:rPr lang="de-DE" dirty="0" err="1"/>
              <a:t>optimizes</a:t>
            </a:r>
            <a:r>
              <a:rPr lang="de-DE" dirty="0"/>
              <a:t>:</a:t>
            </a:r>
          </a:p>
          <a:p>
            <a:pPr>
              <a:buFont typeface="Arial" panose="020B0604020202020204" pitchFamily="34" charset="0"/>
              <a:buChar char="•"/>
            </a:pPr>
            <a:r>
              <a:rPr lang="de-DE" dirty="0"/>
              <a:t>DOE </a:t>
            </a:r>
            <a:r>
              <a:rPr lang="de-DE" dirty="0" err="1"/>
              <a:t>phase</a:t>
            </a:r>
            <a:r>
              <a:rPr lang="de-DE" dirty="0"/>
              <a:t> </a:t>
            </a:r>
            <a:r>
              <a:rPr lang="de-DE" dirty="0" err="1"/>
              <a:t>profile</a:t>
            </a:r>
            <a:endParaRPr lang="de-DE" dirty="0"/>
          </a:p>
          <a:p>
            <a:pPr>
              <a:buFont typeface="Arial" panose="020B0604020202020204" pitchFamily="34" charset="0"/>
              <a:buChar char="•"/>
            </a:pPr>
            <a:r>
              <a:rPr lang="de-DE" dirty="0" err="1"/>
              <a:t>Detector</a:t>
            </a:r>
            <a:r>
              <a:rPr lang="de-DE" dirty="0"/>
              <a:t> </a:t>
            </a:r>
            <a:r>
              <a:rPr lang="de-DE" dirty="0" err="1"/>
              <a:t>weights</a:t>
            </a:r>
            <a:endParaRPr lang="de-DE" dirty="0"/>
          </a:p>
          <a:p>
            <a:r>
              <a:rPr lang="de-DE" dirty="0" err="1"/>
              <a:t>Uses</a:t>
            </a:r>
            <a:r>
              <a:rPr lang="de-DE" dirty="0"/>
              <a:t> </a:t>
            </a:r>
            <a:r>
              <a:rPr lang="de-DE" dirty="0" err="1"/>
              <a:t>Ultralytics</a:t>
            </a:r>
            <a:r>
              <a:rPr lang="de-DE" dirty="0"/>
              <a:t> </a:t>
            </a:r>
            <a:r>
              <a:rPr lang="de-DE" dirty="0" err="1"/>
              <a:t>standard</a:t>
            </a:r>
            <a:r>
              <a:rPr lang="de-DE" dirty="0"/>
              <a:t> </a:t>
            </a:r>
            <a:r>
              <a:rPr lang="de-DE" dirty="0" err="1"/>
              <a:t>training</a:t>
            </a:r>
            <a:r>
              <a:rPr lang="de-DE" dirty="0"/>
              <a:t> </a:t>
            </a:r>
            <a:r>
              <a:rPr lang="de-DE" dirty="0" err="1"/>
              <a:t>pipeline</a:t>
            </a:r>
            <a:r>
              <a:rPr lang="de-DE" dirty="0"/>
              <a:t> </a:t>
            </a:r>
            <a:r>
              <a:rPr lang="de-DE" dirty="0" err="1"/>
              <a:t>for</a:t>
            </a:r>
            <a:r>
              <a:rPr lang="de-DE" dirty="0"/>
              <a:t> </a:t>
            </a:r>
            <a:r>
              <a:rPr lang="de-DE" dirty="0" err="1"/>
              <a:t>stability</a:t>
            </a:r>
            <a:r>
              <a:rPr lang="de-DE" dirty="0"/>
              <a:t> and </a:t>
            </a:r>
            <a:r>
              <a:rPr lang="de-DE" dirty="0" err="1"/>
              <a:t>reproducibility</a:t>
            </a:r>
            <a:r>
              <a:rPr lang="de-DE" dirty="0"/>
              <a:t>.</a:t>
            </a:r>
          </a:p>
          <a:p>
            <a:endParaRPr lang="de-DE" dirty="0"/>
          </a:p>
          <a:p>
            <a:endParaRPr lang="en-GB" dirty="0"/>
          </a:p>
        </p:txBody>
      </p:sp>
      <p:sp>
        <p:nvSpPr>
          <p:cNvPr id="4" name="Foliennummernplatzhalter 3"/>
          <p:cNvSpPr>
            <a:spLocks noGrp="1"/>
          </p:cNvSpPr>
          <p:nvPr>
            <p:ph type="sldNum" sz="quarter" idx="5"/>
          </p:nvPr>
        </p:nvSpPr>
        <p:spPr/>
        <p:txBody>
          <a:bodyPr/>
          <a:lstStyle/>
          <a:p>
            <a:fld id="{FA60EB1A-5099-834C-85FD-CBA5DB11C771}" type="slidenum">
              <a:rPr lang="en-GB" smtClean="0"/>
              <a:t>8</a:t>
            </a:fld>
            <a:endParaRPr lang="en-GB"/>
          </a:p>
        </p:txBody>
      </p:sp>
    </p:spTree>
    <p:extLst>
      <p:ext uri="{BB962C8B-B14F-4D97-AF65-F5344CB8AC3E}">
        <p14:creationId xmlns:p14="http://schemas.microsoft.com/office/powerpoint/2010/main" val="80184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4364E5-7041-D80E-7680-A2DF1EF13B32}"/>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endParaRPr lang="en-GB"/>
          </a:p>
        </p:txBody>
      </p:sp>
      <p:sp>
        <p:nvSpPr>
          <p:cNvPr id="3" name="Untertitel 2">
            <a:extLst>
              <a:ext uri="{FF2B5EF4-FFF2-40B4-BE49-F238E27FC236}">
                <a16:creationId xmlns:a16="http://schemas.microsoft.com/office/drawing/2014/main" id="{9118644F-CCA6-DD88-7181-742A5F02BB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4" name="Datumsplatzhalter 3">
            <a:extLst>
              <a:ext uri="{FF2B5EF4-FFF2-40B4-BE49-F238E27FC236}">
                <a16:creationId xmlns:a16="http://schemas.microsoft.com/office/drawing/2014/main" id="{A1AA27AE-7D47-8ECF-8D63-3CA98A02B393}"/>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40E864CC-8AD1-DB92-28D2-53CCFDB47D4C}"/>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5C43198E-E21D-1F12-7BEA-8F452AB41C79}"/>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8016746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522A89-B769-AF9E-E806-271F3EC2C2A3}"/>
              </a:ext>
            </a:extLst>
          </p:cNvPr>
          <p:cNvSpPr>
            <a:spLocks noGrp="1"/>
          </p:cNvSpPr>
          <p:nvPr>
            <p:ph type="title"/>
          </p:nvPr>
        </p:nvSpPr>
        <p:spPr>
          <a:xfrm>
            <a:off x="279400" y="-72232"/>
            <a:ext cx="10515600" cy="1325563"/>
          </a:xfrm>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080A67CB-9AC2-AA31-3415-8724BA620943}"/>
              </a:ext>
            </a:extLst>
          </p:cNvPr>
          <p:cNvSpPr>
            <a:spLocks noGrp="1"/>
          </p:cNvSpPr>
          <p:nvPr>
            <p:ph idx="1"/>
          </p:nvPr>
        </p:nvSpPr>
        <p:spPr>
          <a:xfrm>
            <a:off x="279400" y="1253331"/>
            <a:ext cx="11633200" cy="49769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D68C22A3-8260-A727-B99B-E59246990315}"/>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F8A4E933-B105-6612-DF93-85F006B96FC1}"/>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A5CD19BC-CE21-A725-1AE4-ACF92D731714}"/>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3817337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13950B-6D17-B635-944A-E2D91E87710E}"/>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endParaRPr lang="en-GB"/>
          </a:p>
        </p:txBody>
      </p:sp>
      <p:sp>
        <p:nvSpPr>
          <p:cNvPr id="3" name="Textplatzhalter 2">
            <a:extLst>
              <a:ext uri="{FF2B5EF4-FFF2-40B4-BE49-F238E27FC236}">
                <a16:creationId xmlns:a16="http://schemas.microsoft.com/office/drawing/2014/main" id="{068045EC-E201-1E5B-D24C-71882238F0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075ACC1-95D6-D455-A7F0-6878D59A7D31}"/>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C71D6397-6D30-2C16-D746-4F7B149B868B}"/>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FE621B6F-60BE-CBE4-5174-3A90ADA96C49}"/>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81506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0807B27-F25F-5734-2684-9B1F2D2D9D8D}"/>
              </a:ext>
            </a:extLst>
          </p:cNvPr>
          <p:cNvSpPr>
            <a:spLocks noGrp="1"/>
          </p:cNvSpPr>
          <p:nvPr>
            <p:ph type="title"/>
          </p:nvPr>
        </p:nvSpPr>
        <p:spPr/>
        <p:txBody>
          <a:bodyPr/>
          <a:lstStyle/>
          <a:p>
            <a:r>
              <a:rPr lang="de-DE"/>
              <a:t>Mastertitelformat bearbeiten</a:t>
            </a:r>
            <a:endParaRPr lang="en-GB"/>
          </a:p>
        </p:txBody>
      </p:sp>
      <p:sp>
        <p:nvSpPr>
          <p:cNvPr id="3" name="Inhaltsplatzhalter 2">
            <a:extLst>
              <a:ext uri="{FF2B5EF4-FFF2-40B4-BE49-F238E27FC236}">
                <a16:creationId xmlns:a16="http://schemas.microsoft.com/office/drawing/2014/main" id="{05B09CA9-782C-FB4B-82D1-63612E8C03BF}"/>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Inhaltsplatzhalter 3">
            <a:extLst>
              <a:ext uri="{FF2B5EF4-FFF2-40B4-BE49-F238E27FC236}">
                <a16:creationId xmlns:a16="http://schemas.microsoft.com/office/drawing/2014/main" id="{B0394D60-FE7E-1F10-6085-DE6EC1A59F21}"/>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Datumsplatzhalter 4">
            <a:extLst>
              <a:ext uri="{FF2B5EF4-FFF2-40B4-BE49-F238E27FC236}">
                <a16:creationId xmlns:a16="http://schemas.microsoft.com/office/drawing/2014/main" id="{10F2CFA5-2DDB-4EE6-8CD2-D10FF41C7BB2}"/>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6" name="Fußzeilenplatzhalter 5">
            <a:extLst>
              <a:ext uri="{FF2B5EF4-FFF2-40B4-BE49-F238E27FC236}">
                <a16:creationId xmlns:a16="http://schemas.microsoft.com/office/drawing/2014/main" id="{2DA326F3-2851-ACB7-A279-21FDE68F9780}"/>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735F0690-F3B9-79FC-47ED-97082983103C}"/>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2855724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9C6551-137F-ABCE-FCC8-B68A6F0B5BD7}"/>
              </a:ext>
            </a:extLst>
          </p:cNvPr>
          <p:cNvSpPr>
            <a:spLocks noGrp="1"/>
          </p:cNvSpPr>
          <p:nvPr>
            <p:ph type="title"/>
          </p:nvPr>
        </p:nvSpPr>
        <p:spPr>
          <a:xfrm>
            <a:off x="839788" y="365125"/>
            <a:ext cx="10515600" cy="1325563"/>
          </a:xfrm>
        </p:spPr>
        <p:txBody>
          <a:bodyPr/>
          <a:lstStyle/>
          <a:p>
            <a:r>
              <a:rPr lang="de-DE"/>
              <a:t>Mastertitelformat bearbeiten</a:t>
            </a:r>
            <a:endParaRPr lang="en-GB"/>
          </a:p>
        </p:txBody>
      </p:sp>
      <p:sp>
        <p:nvSpPr>
          <p:cNvPr id="3" name="Textplatzhalter 2">
            <a:extLst>
              <a:ext uri="{FF2B5EF4-FFF2-40B4-BE49-F238E27FC236}">
                <a16:creationId xmlns:a16="http://schemas.microsoft.com/office/drawing/2014/main" id="{30588918-BA77-990F-AF47-13E36FDD82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FA576EEA-80F9-9CA3-C6CA-002FA76CFDD2}"/>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5" name="Textplatzhalter 4">
            <a:extLst>
              <a:ext uri="{FF2B5EF4-FFF2-40B4-BE49-F238E27FC236}">
                <a16:creationId xmlns:a16="http://schemas.microsoft.com/office/drawing/2014/main" id="{E2293748-9D6A-605D-9A0F-77E74BE3D5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78E6C17E-ABEE-AD78-DAE6-8B62B4436DAB}"/>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7" name="Datumsplatzhalter 6">
            <a:extLst>
              <a:ext uri="{FF2B5EF4-FFF2-40B4-BE49-F238E27FC236}">
                <a16:creationId xmlns:a16="http://schemas.microsoft.com/office/drawing/2014/main" id="{745B40EB-B107-5E8A-881F-9C5197A40ADD}"/>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8" name="Fußzeilenplatzhalter 7">
            <a:extLst>
              <a:ext uri="{FF2B5EF4-FFF2-40B4-BE49-F238E27FC236}">
                <a16:creationId xmlns:a16="http://schemas.microsoft.com/office/drawing/2014/main" id="{0B79D347-6DC5-3D64-6F85-4590011C9444}"/>
              </a:ext>
            </a:extLst>
          </p:cNvPr>
          <p:cNvSpPr>
            <a:spLocks noGrp="1"/>
          </p:cNvSpPr>
          <p:nvPr>
            <p:ph type="ftr" sz="quarter" idx="11"/>
          </p:nvPr>
        </p:nvSpPr>
        <p:spPr/>
        <p:txBody>
          <a:bodyPr/>
          <a:lstStyle/>
          <a:p>
            <a:endParaRPr lang="en-GB"/>
          </a:p>
        </p:txBody>
      </p:sp>
      <p:sp>
        <p:nvSpPr>
          <p:cNvPr id="9" name="Foliennummernplatzhalter 8">
            <a:extLst>
              <a:ext uri="{FF2B5EF4-FFF2-40B4-BE49-F238E27FC236}">
                <a16:creationId xmlns:a16="http://schemas.microsoft.com/office/drawing/2014/main" id="{6C6D6FA2-13E3-815B-45CB-811BCC1668E2}"/>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247000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254CF4-E1F1-C69A-9374-08BD79E54965}"/>
              </a:ext>
            </a:extLst>
          </p:cNvPr>
          <p:cNvSpPr>
            <a:spLocks noGrp="1"/>
          </p:cNvSpPr>
          <p:nvPr>
            <p:ph type="title"/>
          </p:nvPr>
        </p:nvSpPr>
        <p:spPr/>
        <p:txBody>
          <a:bodyPr/>
          <a:lstStyle/>
          <a:p>
            <a:r>
              <a:rPr lang="de-DE"/>
              <a:t>Mastertitelformat bearbeiten</a:t>
            </a:r>
            <a:endParaRPr lang="en-GB"/>
          </a:p>
        </p:txBody>
      </p:sp>
      <p:sp>
        <p:nvSpPr>
          <p:cNvPr id="3" name="Datumsplatzhalter 2">
            <a:extLst>
              <a:ext uri="{FF2B5EF4-FFF2-40B4-BE49-F238E27FC236}">
                <a16:creationId xmlns:a16="http://schemas.microsoft.com/office/drawing/2014/main" id="{4FF5BA9B-BB8F-66B8-3533-8C894CD3FC64}"/>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4" name="Fußzeilenplatzhalter 3">
            <a:extLst>
              <a:ext uri="{FF2B5EF4-FFF2-40B4-BE49-F238E27FC236}">
                <a16:creationId xmlns:a16="http://schemas.microsoft.com/office/drawing/2014/main" id="{5A67EA70-E790-9C27-2B71-0D97232F2670}"/>
              </a:ext>
            </a:extLst>
          </p:cNvPr>
          <p:cNvSpPr>
            <a:spLocks noGrp="1"/>
          </p:cNvSpPr>
          <p:nvPr>
            <p:ph type="ftr" sz="quarter" idx="11"/>
          </p:nvPr>
        </p:nvSpPr>
        <p:spPr/>
        <p:txBody>
          <a:bodyPr/>
          <a:lstStyle/>
          <a:p>
            <a:endParaRPr lang="en-GB"/>
          </a:p>
        </p:txBody>
      </p:sp>
      <p:sp>
        <p:nvSpPr>
          <p:cNvPr id="5" name="Foliennummernplatzhalter 4">
            <a:extLst>
              <a:ext uri="{FF2B5EF4-FFF2-40B4-BE49-F238E27FC236}">
                <a16:creationId xmlns:a16="http://schemas.microsoft.com/office/drawing/2014/main" id="{048FCFD8-13F1-6D75-31BD-A7D6DA9A5E70}"/>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907551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B99020B4-0CD2-5C09-7A70-936F8FCDAEDB}"/>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3" name="Fußzeilenplatzhalter 2">
            <a:extLst>
              <a:ext uri="{FF2B5EF4-FFF2-40B4-BE49-F238E27FC236}">
                <a16:creationId xmlns:a16="http://schemas.microsoft.com/office/drawing/2014/main" id="{5444310D-5507-9339-6544-070D12167EDE}"/>
              </a:ext>
            </a:extLst>
          </p:cNvPr>
          <p:cNvSpPr>
            <a:spLocks noGrp="1"/>
          </p:cNvSpPr>
          <p:nvPr>
            <p:ph type="ftr" sz="quarter" idx="11"/>
          </p:nvPr>
        </p:nvSpPr>
        <p:spPr/>
        <p:txBody>
          <a:bodyPr/>
          <a:lstStyle/>
          <a:p>
            <a:endParaRPr lang="en-GB"/>
          </a:p>
        </p:txBody>
      </p:sp>
      <p:sp>
        <p:nvSpPr>
          <p:cNvPr id="4" name="Foliennummernplatzhalter 3">
            <a:extLst>
              <a:ext uri="{FF2B5EF4-FFF2-40B4-BE49-F238E27FC236}">
                <a16:creationId xmlns:a16="http://schemas.microsoft.com/office/drawing/2014/main" id="{17D09B4B-3D24-8431-7BB5-90F93C5F95C2}"/>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20452900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344C85E-6A21-3007-51EF-2B8841B31A6F}"/>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Inhaltsplatzhalter 2">
            <a:extLst>
              <a:ext uri="{FF2B5EF4-FFF2-40B4-BE49-F238E27FC236}">
                <a16:creationId xmlns:a16="http://schemas.microsoft.com/office/drawing/2014/main" id="{52B9A0DA-7EDE-C87C-B8C1-05A44BA44E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Textplatzhalter 3">
            <a:extLst>
              <a:ext uri="{FF2B5EF4-FFF2-40B4-BE49-F238E27FC236}">
                <a16:creationId xmlns:a16="http://schemas.microsoft.com/office/drawing/2014/main" id="{DFDD2AA6-0522-44EE-E0D5-2D0507A735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1CBD5E73-78E6-B543-94DB-46C17A2D6FE1}"/>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6" name="Fußzeilenplatzhalter 5">
            <a:extLst>
              <a:ext uri="{FF2B5EF4-FFF2-40B4-BE49-F238E27FC236}">
                <a16:creationId xmlns:a16="http://schemas.microsoft.com/office/drawing/2014/main" id="{901E54F1-DBCF-A14A-8ACE-F3A872F8C7A2}"/>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B95D2AD5-23B2-F639-E235-F443AB9C0CCB}"/>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4592761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9A9730-30A3-911B-BDFD-F7D644E17DCE}"/>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endParaRPr lang="en-GB"/>
          </a:p>
        </p:txBody>
      </p:sp>
      <p:sp>
        <p:nvSpPr>
          <p:cNvPr id="3" name="Bildplatzhalter 2">
            <a:extLst>
              <a:ext uri="{FF2B5EF4-FFF2-40B4-BE49-F238E27FC236}">
                <a16:creationId xmlns:a16="http://schemas.microsoft.com/office/drawing/2014/main" id="{DCB2FF89-CA37-E432-5703-B8151BAF01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platzhalter 3">
            <a:extLst>
              <a:ext uri="{FF2B5EF4-FFF2-40B4-BE49-F238E27FC236}">
                <a16:creationId xmlns:a16="http://schemas.microsoft.com/office/drawing/2014/main" id="{187497BF-B4A4-0BF0-B8CF-6A3D225DC8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A9E448C2-84E2-9EEB-70BE-5B1FC83107C1}"/>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6" name="Fußzeilenplatzhalter 5">
            <a:extLst>
              <a:ext uri="{FF2B5EF4-FFF2-40B4-BE49-F238E27FC236}">
                <a16:creationId xmlns:a16="http://schemas.microsoft.com/office/drawing/2014/main" id="{5738F898-D5A9-45BA-97F9-5714AC8C9256}"/>
              </a:ext>
            </a:extLst>
          </p:cNvPr>
          <p:cNvSpPr>
            <a:spLocks noGrp="1"/>
          </p:cNvSpPr>
          <p:nvPr>
            <p:ph type="ftr" sz="quarter" idx="11"/>
          </p:nvPr>
        </p:nvSpPr>
        <p:spPr/>
        <p:txBody>
          <a:bodyPr/>
          <a:lstStyle/>
          <a:p>
            <a:endParaRPr lang="en-GB"/>
          </a:p>
        </p:txBody>
      </p:sp>
      <p:sp>
        <p:nvSpPr>
          <p:cNvPr id="7" name="Foliennummernplatzhalter 6">
            <a:extLst>
              <a:ext uri="{FF2B5EF4-FFF2-40B4-BE49-F238E27FC236}">
                <a16:creationId xmlns:a16="http://schemas.microsoft.com/office/drawing/2014/main" id="{EFAC1D46-5993-736B-309B-518980227E45}"/>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2417963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978738F-1591-4AF4-7A2A-62D328DEB3C9}"/>
              </a:ext>
            </a:extLst>
          </p:cNvPr>
          <p:cNvSpPr>
            <a:spLocks noGrp="1"/>
          </p:cNvSpPr>
          <p:nvPr>
            <p:ph type="title"/>
          </p:nvPr>
        </p:nvSpPr>
        <p:spPr/>
        <p:txBody>
          <a:bodyPr/>
          <a:lstStyle/>
          <a:p>
            <a:r>
              <a:rPr lang="de-DE"/>
              <a:t>Mastertitelformat bearbeiten</a:t>
            </a:r>
            <a:endParaRPr lang="en-GB"/>
          </a:p>
        </p:txBody>
      </p:sp>
      <p:sp>
        <p:nvSpPr>
          <p:cNvPr id="3" name="Vertikaler Textplatzhalter 2">
            <a:extLst>
              <a:ext uri="{FF2B5EF4-FFF2-40B4-BE49-F238E27FC236}">
                <a16:creationId xmlns:a16="http://schemas.microsoft.com/office/drawing/2014/main" id="{EBF44F26-7C64-6EA3-27AB-46C1E2EDEF7F}"/>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311182A7-4D88-3514-2EC3-5B647B8DB185}"/>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CBFF26DF-5F01-1077-2BB4-C61E05777FFB}"/>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FE97B8E6-8350-09A4-0C9D-EE466E6FB0E3}"/>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1205223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66A53063-EC1B-1449-075F-182382DDC909}"/>
              </a:ext>
            </a:extLst>
          </p:cNvPr>
          <p:cNvSpPr>
            <a:spLocks noGrp="1"/>
          </p:cNvSpPr>
          <p:nvPr>
            <p:ph type="title" orient="vert"/>
          </p:nvPr>
        </p:nvSpPr>
        <p:spPr>
          <a:xfrm>
            <a:off x="8724900" y="365125"/>
            <a:ext cx="2628900" cy="5811838"/>
          </a:xfrm>
        </p:spPr>
        <p:txBody>
          <a:bodyPr vert="eaVert"/>
          <a:lstStyle/>
          <a:p>
            <a:r>
              <a:rPr lang="de-DE"/>
              <a:t>Mastertitelformat bearbeiten</a:t>
            </a:r>
            <a:endParaRPr lang="en-GB"/>
          </a:p>
        </p:txBody>
      </p:sp>
      <p:sp>
        <p:nvSpPr>
          <p:cNvPr id="3" name="Vertikaler Textplatzhalter 2">
            <a:extLst>
              <a:ext uri="{FF2B5EF4-FFF2-40B4-BE49-F238E27FC236}">
                <a16:creationId xmlns:a16="http://schemas.microsoft.com/office/drawing/2014/main" id="{B762212F-1448-5965-A729-E7D4F381B1C4}"/>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468530AB-8D15-3D09-5192-0ABD32DEE7F7}"/>
              </a:ext>
            </a:extLst>
          </p:cNvPr>
          <p:cNvSpPr>
            <a:spLocks noGrp="1"/>
          </p:cNvSpPr>
          <p:nvPr>
            <p:ph type="dt" sz="half" idx="10"/>
          </p:nvPr>
        </p:nvSpPr>
        <p:spPr/>
        <p:txBody>
          <a:body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10F002F8-0A81-7F9D-FB19-BEDD3F217B23}"/>
              </a:ext>
            </a:extLst>
          </p:cNvPr>
          <p:cNvSpPr>
            <a:spLocks noGrp="1"/>
          </p:cNvSpPr>
          <p:nvPr>
            <p:ph type="ftr" sz="quarter" idx="11"/>
          </p:nvPr>
        </p:nvSpPr>
        <p:spPr/>
        <p:txBody>
          <a:bodyPr/>
          <a:lstStyle/>
          <a:p>
            <a:endParaRPr lang="en-GB"/>
          </a:p>
        </p:txBody>
      </p:sp>
      <p:sp>
        <p:nvSpPr>
          <p:cNvPr id="6" name="Foliennummernplatzhalter 5">
            <a:extLst>
              <a:ext uri="{FF2B5EF4-FFF2-40B4-BE49-F238E27FC236}">
                <a16:creationId xmlns:a16="http://schemas.microsoft.com/office/drawing/2014/main" id="{3EB5F810-7DDC-BD62-2952-0A65E0ABCC54}"/>
              </a:ext>
            </a:extLst>
          </p:cNvPr>
          <p:cNvSpPr>
            <a:spLocks noGrp="1"/>
          </p:cNvSpPr>
          <p:nvPr>
            <p:ph type="sldNum" sz="quarter" idx="12"/>
          </p:nvPr>
        </p:nvSpPr>
        <p:spPr/>
        <p:txBody>
          <a:bodyPr/>
          <a:lstStyle/>
          <a:p>
            <a:fld id="{C5A39AF0-9FD5-8C4B-ADD3-0BFFBBE05838}" type="slidenum">
              <a:rPr lang="en-GB" smtClean="0"/>
              <a:t>‹Nr.›</a:t>
            </a:fld>
            <a:endParaRPr lang="en-GB"/>
          </a:p>
        </p:txBody>
      </p:sp>
    </p:spTree>
    <p:extLst>
      <p:ext uri="{BB962C8B-B14F-4D97-AF65-F5344CB8AC3E}">
        <p14:creationId xmlns:p14="http://schemas.microsoft.com/office/powerpoint/2010/main" val="1458176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4871718D-06AD-697C-F079-879B1DF7698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endParaRPr lang="en-GB"/>
          </a:p>
        </p:txBody>
      </p:sp>
      <p:sp>
        <p:nvSpPr>
          <p:cNvPr id="3" name="Textplatzhalter 2">
            <a:extLst>
              <a:ext uri="{FF2B5EF4-FFF2-40B4-BE49-F238E27FC236}">
                <a16:creationId xmlns:a16="http://schemas.microsoft.com/office/drawing/2014/main" id="{DBDFC683-BBD7-C58E-8140-C12E821467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GB"/>
          </a:p>
        </p:txBody>
      </p:sp>
      <p:sp>
        <p:nvSpPr>
          <p:cNvPr id="4" name="Datumsplatzhalter 3">
            <a:extLst>
              <a:ext uri="{FF2B5EF4-FFF2-40B4-BE49-F238E27FC236}">
                <a16:creationId xmlns:a16="http://schemas.microsoft.com/office/drawing/2014/main" id="{9CE653EF-D321-9411-AB1A-E57FBB8963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7B9DCE-2806-D243-A137-B4C1362D6AA1}" type="datetimeFigureOut">
              <a:rPr lang="en-GB" smtClean="0"/>
              <a:t>08/12/2025</a:t>
            </a:fld>
            <a:endParaRPr lang="en-GB"/>
          </a:p>
        </p:txBody>
      </p:sp>
      <p:sp>
        <p:nvSpPr>
          <p:cNvPr id="5" name="Fußzeilenplatzhalter 4">
            <a:extLst>
              <a:ext uri="{FF2B5EF4-FFF2-40B4-BE49-F238E27FC236}">
                <a16:creationId xmlns:a16="http://schemas.microsoft.com/office/drawing/2014/main" id="{5A6893C7-7A34-2641-993C-4A02210440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Foliennummernplatzhalter 5">
            <a:extLst>
              <a:ext uri="{FF2B5EF4-FFF2-40B4-BE49-F238E27FC236}">
                <a16:creationId xmlns:a16="http://schemas.microsoft.com/office/drawing/2014/main" id="{6BCA9522-5432-3A2F-0E87-32408B1702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A39AF0-9FD5-8C4B-ADD3-0BFFBBE05838}" type="slidenum">
              <a:rPr lang="en-GB" smtClean="0"/>
              <a:t>‹Nr.›</a:t>
            </a:fld>
            <a:endParaRPr lang="en-GB"/>
          </a:p>
        </p:txBody>
      </p:sp>
    </p:spTree>
    <p:extLst>
      <p:ext uri="{BB962C8B-B14F-4D97-AF65-F5344CB8AC3E}">
        <p14:creationId xmlns:p14="http://schemas.microsoft.com/office/powerpoint/2010/main" val="25971641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80.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6.png"/><Relationship Id="rId11" Type="http://schemas.openxmlformats.org/officeDocument/2006/relationships/image" Target="../media/image19.png"/><Relationship Id="rId5" Type="http://schemas.openxmlformats.org/officeDocument/2006/relationships/hyperlink" Target="https://www.kaggle.com/datasets/orvile/dawn-detection-in-adverse-weather-nature" TargetMode="External"/><Relationship Id="rId10" Type="http://schemas.openxmlformats.org/officeDocument/2006/relationships/image" Target="../media/image18.png"/><Relationship Id="rId4" Type="http://schemas.openxmlformats.org/officeDocument/2006/relationships/hyperlink" Target="https://www.kaggle.com/datasets/khitdon/foggy-cityscapes-yolo" TargetMode="External"/><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customXml" Target="../ink/ink2.xml"/><Relationship Id="rId7" Type="http://schemas.openxmlformats.org/officeDocument/2006/relationships/image" Target="../media/image40.png"/><Relationship Id="rId2" Type="http://schemas.openxmlformats.org/officeDocument/2006/relationships/hyperlink" Target="https://www.kaggle.com/datasets/yessicatuteja/foggy-cityscapes-image-dataset" TargetMode="Externa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60.png"/><Relationship Id="rId5" Type="http://schemas.openxmlformats.org/officeDocument/2006/relationships/hyperlink" Target="https://www.kaggle.com/datasets/khitdon/foggy-cityscapes-yolo" TargetMode="External"/><Relationship Id="rId10" Type="http://schemas.openxmlformats.org/officeDocument/2006/relationships/customXml" Target="../ink/ink5.xml"/><Relationship Id="rId4" Type="http://schemas.openxmlformats.org/officeDocument/2006/relationships/image" Target="../media/image30.png"/><Relationship Id="rId9"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38" name="Rectangle 3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Ein Bild, das Auto, draußen, Windschutzscheibe, Fahrzeug enthält.&#10;&#10;Automatisch generierte Beschreibung">
            <a:extLst>
              <a:ext uri="{FF2B5EF4-FFF2-40B4-BE49-F238E27FC236}">
                <a16:creationId xmlns:a16="http://schemas.microsoft.com/office/drawing/2014/main" id="{189C3C27-EF33-F405-8E5B-CE661C115E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7707" b="7707"/>
          <a:stretch>
            <a:fillRect/>
          </a:stretch>
        </p:blipFill>
        <p:spPr bwMode="auto">
          <a:xfrm>
            <a:off x="-3047" y="10"/>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40" name="Rectangle 3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bgerundetes Rechteck 5">
            <a:extLst>
              <a:ext uri="{FF2B5EF4-FFF2-40B4-BE49-F238E27FC236}">
                <a16:creationId xmlns:a16="http://schemas.microsoft.com/office/drawing/2014/main" id="{A24AC7F2-9DFE-2387-52FF-9352A54FD5D4}"/>
              </a:ext>
            </a:extLst>
          </p:cNvPr>
          <p:cNvSpPr/>
          <p:nvPr/>
        </p:nvSpPr>
        <p:spPr>
          <a:xfrm>
            <a:off x="263514" y="719350"/>
            <a:ext cx="9171709" cy="3408218"/>
          </a:xfrm>
          <a:prstGeom prst="roundRect">
            <a:avLst/>
          </a:prstGeom>
          <a:solidFill>
            <a:schemeClr val="bg1">
              <a:alpha val="7225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el 1">
            <a:extLst>
              <a:ext uri="{FF2B5EF4-FFF2-40B4-BE49-F238E27FC236}">
                <a16:creationId xmlns:a16="http://schemas.microsoft.com/office/drawing/2014/main" id="{90DBCF6C-5B00-CC99-E96D-CDB928BBF210}"/>
              </a:ext>
            </a:extLst>
          </p:cNvPr>
          <p:cNvSpPr>
            <a:spLocks noGrp="1"/>
          </p:cNvSpPr>
          <p:nvPr>
            <p:ph type="ctrTitle"/>
          </p:nvPr>
        </p:nvSpPr>
        <p:spPr>
          <a:xfrm>
            <a:off x="-135497" y="-562227"/>
            <a:ext cx="10058400" cy="3574778"/>
          </a:xfrm>
          <a:effectLst>
            <a:outerShdw blurRad="50800" dist="38100" dir="2700000" algn="tl" rotWithShape="0">
              <a:prstClr val="black">
                <a:alpha val="40000"/>
              </a:prstClr>
            </a:outerShdw>
          </a:effectLst>
        </p:spPr>
        <p:txBody>
          <a:bodyPr>
            <a:normAutofit/>
          </a:bodyPr>
          <a:lstStyle/>
          <a:p>
            <a:r>
              <a:rPr lang="en-GB" sz="5200" b="1" dirty="0"/>
              <a:t>Co-Optimizing Diffractive Optics and Object Detection for Robust Perception in Adverse Weather</a:t>
            </a:r>
          </a:p>
        </p:txBody>
      </p:sp>
      <p:sp>
        <p:nvSpPr>
          <p:cNvPr id="3" name="Untertitel 2">
            <a:extLst>
              <a:ext uri="{FF2B5EF4-FFF2-40B4-BE49-F238E27FC236}">
                <a16:creationId xmlns:a16="http://schemas.microsoft.com/office/drawing/2014/main" id="{3D62D144-989B-6987-A66E-A4D790AF1B77}"/>
              </a:ext>
            </a:extLst>
          </p:cNvPr>
          <p:cNvSpPr>
            <a:spLocks noGrp="1"/>
          </p:cNvSpPr>
          <p:nvPr>
            <p:ph type="subTitle" idx="1"/>
          </p:nvPr>
        </p:nvSpPr>
        <p:spPr>
          <a:xfrm>
            <a:off x="-132726" y="3184266"/>
            <a:ext cx="10058400" cy="1282707"/>
          </a:xfrm>
          <a:effectLst>
            <a:outerShdw blurRad="50800" dist="38100" dir="2700000" algn="tl" rotWithShape="0">
              <a:prstClr val="black">
                <a:alpha val="40000"/>
              </a:prstClr>
            </a:outerShdw>
          </a:effectLst>
        </p:spPr>
        <p:txBody>
          <a:bodyPr>
            <a:normAutofit/>
          </a:bodyPr>
          <a:lstStyle/>
          <a:p>
            <a:r>
              <a:rPr lang="en-GB" dirty="0"/>
              <a:t>CSED520 – Computational Imaging</a:t>
            </a:r>
          </a:p>
          <a:p>
            <a:r>
              <a:rPr lang="en-GB" dirty="0" err="1"/>
              <a:t>Nikolo</a:t>
            </a:r>
            <a:r>
              <a:rPr lang="en-GB" dirty="0"/>
              <a:t> </a:t>
            </a:r>
            <a:r>
              <a:rPr lang="en-GB" dirty="0" err="1"/>
              <a:t>Rohrmoser</a:t>
            </a:r>
            <a:r>
              <a:rPr lang="en-GB" dirty="0"/>
              <a:t>, Wilmer </a:t>
            </a:r>
            <a:r>
              <a:rPr lang="en-GB" dirty="0" err="1"/>
              <a:t>Zetterqvist</a:t>
            </a:r>
            <a:r>
              <a:rPr lang="en-GB" dirty="0"/>
              <a:t>, Michelle Reimann</a:t>
            </a:r>
          </a:p>
        </p:txBody>
      </p:sp>
    </p:spTree>
    <p:extLst>
      <p:ext uri="{BB962C8B-B14F-4D97-AF65-F5344CB8AC3E}">
        <p14:creationId xmlns:p14="http://schemas.microsoft.com/office/powerpoint/2010/main" val="24650304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12" name="Freeform: Shape 11">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15" name="Freeform: Shape 14">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Freeform: Shape 20">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itel 1">
            <a:extLst>
              <a:ext uri="{FF2B5EF4-FFF2-40B4-BE49-F238E27FC236}">
                <a16:creationId xmlns:a16="http://schemas.microsoft.com/office/drawing/2014/main" id="{90DBCF6C-5B00-CC99-E96D-CDB928BBF210}"/>
              </a:ext>
            </a:extLst>
          </p:cNvPr>
          <p:cNvSpPr>
            <a:spLocks noGrp="1"/>
          </p:cNvSpPr>
          <p:nvPr>
            <p:ph type="ctrTitle"/>
          </p:nvPr>
        </p:nvSpPr>
        <p:spPr>
          <a:xfrm>
            <a:off x="3502731" y="1542402"/>
            <a:ext cx="5186842" cy="2387918"/>
          </a:xfrm>
        </p:spPr>
        <p:txBody>
          <a:bodyPr anchor="b">
            <a:normAutofit/>
          </a:bodyPr>
          <a:lstStyle/>
          <a:p>
            <a:r>
              <a:rPr lang="en-GB" sz="3300" b="1">
                <a:solidFill>
                  <a:schemeClr val="tx2"/>
                </a:solidFill>
              </a:rPr>
              <a:t>Co-Optimizing Diffractive Optics and Object Detection for Robust Perception in Adverse Weather</a:t>
            </a:r>
            <a:endParaRPr lang="en-GB" sz="3300" b="1" dirty="0">
              <a:solidFill>
                <a:schemeClr val="tx2"/>
              </a:solidFill>
            </a:endParaRPr>
          </a:p>
        </p:txBody>
      </p:sp>
      <p:sp>
        <p:nvSpPr>
          <p:cNvPr id="3" name="Untertitel 2">
            <a:extLst>
              <a:ext uri="{FF2B5EF4-FFF2-40B4-BE49-F238E27FC236}">
                <a16:creationId xmlns:a16="http://schemas.microsoft.com/office/drawing/2014/main" id="{3D62D144-989B-6987-A66E-A4D790AF1B77}"/>
              </a:ext>
            </a:extLst>
          </p:cNvPr>
          <p:cNvSpPr>
            <a:spLocks noGrp="1"/>
          </p:cNvSpPr>
          <p:nvPr>
            <p:ph type="subTitle" idx="1"/>
          </p:nvPr>
        </p:nvSpPr>
        <p:spPr>
          <a:xfrm>
            <a:off x="3500731" y="4130820"/>
            <a:ext cx="5188034" cy="682079"/>
          </a:xfrm>
        </p:spPr>
        <p:txBody>
          <a:bodyPr>
            <a:normAutofit fontScale="92500" lnSpcReduction="10000"/>
          </a:bodyPr>
          <a:lstStyle/>
          <a:p>
            <a:r>
              <a:rPr lang="en-GB" sz="1800">
                <a:solidFill>
                  <a:schemeClr val="tx2"/>
                </a:solidFill>
              </a:rPr>
              <a:t>CSED520 – Computational Imaging</a:t>
            </a:r>
          </a:p>
          <a:p>
            <a:r>
              <a:rPr lang="en-GB" sz="1800">
                <a:solidFill>
                  <a:schemeClr val="tx2"/>
                </a:solidFill>
              </a:rPr>
              <a:t>Nikolo Rohrmoser, Wilmer Zetterqvist, Michelle Reimann</a:t>
            </a:r>
            <a:endParaRPr lang="en-GB" sz="1800" dirty="0">
              <a:solidFill>
                <a:schemeClr val="tx2"/>
              </a:solidFill>
            </a:endParaRPr>
          </a:p>
        </p:txBody>
      </p:sp>
      <p:grpSp>
        <p:nvGrpSpPr>
          <p:cNvPr id="23" name="Group 22">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24" name="Freeform: Shape 23">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7" name="Freeform: Shape 26">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9" name="Group 28">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0" name="Freeform: Shape 29">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3" name="Freeform: Shape 32">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23086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1" name="Rectangle 1040">
            <a:extLst>
              <a:ext uri="{FF2B5EF4-FFF2-40B4-BE49-F238E27FC236}">
                <a16:creationId xmlns:a16="http://schemas.microsoft.com/office/drawing/2014/main" id="{A3C210E6-A35A-4F68-8D60-801A019C75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6" name="Picture 12" descr="gb1 Object Detection Dataset by Sumba Coder">
            <a:extLst>
              <a:ext uri="{FF2B5EF4-FFF2-40B4-BE49-F238E27FC236}">
                <a16:creationId xmlns:a16="http://schemas.microsoft.com/office/drawing/2014/main" id="{210B4AB0-4740-2B2D-8C9C-F4927ECFEB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91" r="17633" b="-2"/>
          <a:stretch>
            <a:fillRect/>
          </a:stretch>
        </p:blipFill>
        <p:spPr bwMode="auto">
          <a:xfrm>
            <a:off x="3136389" y="10"/>
            <a:ext cx="4979304" cy="3401558"/>
          </a:xfrm>
          <a:custGeom>
            <a:avLst/>
            <a:gdLst/>
            <a:ahLst/>
            <a:cxnLst/>
            <a:rect l="l" t="t" r="r" b="b"/>
            <a:pathLst>
              <a:path w="4979304" h="3364992">
                <a:moveTo>
                  <a:pt x="0" y="0"/>
                </a:moveTo>
                <a:lnTo>
                  <a:pt x="4211250" y="0"/>
                </a:lnTo>
                <a:lnTo>
                  <a:pt x="4309461" y="192282"/>
                </a:lnTo>
                <a:cubicBezTo>
                  <a:pt x="4697535" y="1033269"/>
                  <a:pt x="4937593" y="2032690"/>
                  <a:pt x="4974907" y="3110424"/>
                </a:cubicBezTo>
                <a:lnTo>
                  <a:pt x="4979304" y="3364992"/>
                </a:lnTo>
                <a:lnTo>
                  <a:pt x="800592" y="3364992"/>
                </a:lnTo>
                <a:lnTo>
                  <a:pt x="797493" y="3185579"/>
                </a:lnTo>
                <a:cubicBezTo>
                  <a:pt x="756786" y="2009870"/>
                  <a:pt x="474799" y="927359"/>
                  <a:pt x="22579" y="42066"/>
                </a:cubicBezTo>
                <a:close/>
              </a:path>
            </a:pathLst>
          </a:custGeom>
          <a:noFill/>
          <a:extLst>
            <a:ext uri="{909E8E84-426E-40DD-AFC4-6F175D3DCCD1}">
              <a14:hiddenFill xmlns:a14="http://schemas.microsoft.com/office/drawing/2010/main">
                <a:solidFill>
                  <a:srgbClr val="FFFFFF"/>
                </a:solidFill>
              </a14:hiddenFill>
            </a:ext>
          </a:extLst>
        </p:spPr>
      </p:pic>
      <p:pic>
        <p:nvPicPr>
          <p:cNvPr id="1030" name="Picture 6" descr="Adverse Weather Object Detection Object Detection Dataset by Adverse Weather">
            <a:extLst>
              <a:ext uri="{FF2B5EF4-FFF2-40B4-BE49-F238E27FC236}">
                <a16:creationId xmlns:a16="http://schemas.microsoft.com/office/drawing/2014/main" id="{8FF3D46B-8E6C-BE3D-3EBF-71ED469DD17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896" b="1"/>
          <a:stretch>
            <a:fillRect/>
          </a:stretch>
        </p:blipFill>
        <p:spPr bwMode="auto">
          <a:xfrm>
            <a:off x="7381690" y="3456433"/>
            <a:ext cx="4810310" cy="3401568"/>
          </a:xfrm>
          <a:custGeom>
            <a:avLst/>
            <a:gdLst/>
            <a:ahLst/>
            <a:cxnLst/>
            <a:rect l="l" t="t" r="r" b="b"/>
            <a:pathLst>
              <a:path w="4810310" h="3401568">
                <a:moveTo>
                  <a:pt x="781270" y="0"/>
                </a:moveTo>
                <a:lnTo>
                  <a:pt x="4810310" y="0"/>
                </a:lnTo>
                <a:lnTo>
                  <a:pt x="4810310" y="3401568"/>
                </a:lnTo>
                <a:lnTo>
                  <a:pt x="0" y="3401568"/>
                </a:lnTo>
                <a:lnTo>
                  <a:pt x="1963" y="3397912"/>
                </a:lnTo>
                <a:cubicBezTo>
                  <a:pt x="454182" y="2512619"/>
                  <a:pt x="736170" y="1430108"/>
                  <a:pt x="776876" y="254399"/>
                </a:cubicBezTo>
                <a:close/>
              </a:path>
            </a:pathLst>
          </a:custGeom>
          <a:noFill/>
          <a:extLst>
            <a:ext uri="{909E8E84-426E-40DD-AFC4-6F175D3DCCD1}">
              <a14:hiddenFill xmlns:a14="http://schemas.microsoft.com/office/drawing/2010/main">
                <a:solidFill>
                  <a:srgbClr val="FFFFFF"/>
                </a:solidFill>
              </a14:hiddenFill>
            </a:ext>
          </a:extLst>
        </p:spPr>
      </p:pic>
      <p:pic>
        <p:nvPicPr>
          <p:cNvPr id="1034" name="Picture 10" descr="Adverse Weather Object Detection Object Detection Dataset by Adverse Weather">
            <a:extLst>
              <a:ext uri="{FF2B5EF4-FFF2-40B4-BE49-F238E27FC236}">
                <a16:creationId xmlns:a16="http://schemas.microsoft.com/office/drawing/2014/main" id="{7D5A297C-E45D-AA2D-9218-84DD680FD96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r="8087" b="-1"/>
          <a:stretch>
            <a:fillRect/>
          </a:stretch>
        </p:blipFill>
        <p:spPr bwMode="auto">
          <a:xfrm>
            <a:off x="3189428" y="3456432"/>
            <a:ext cx="4925479" cy="3401568"/>
          </a:xfrm>
          <a:custGeom>
            <a:avLst/>
            <a:gdLst/>
            <a:ahLst/>
            <a:cxnLst/>
            <a:rect l="l" t="t" r="r" b="b"/>
            <a:pathLst>
              <a:path w="4925479" h="3364992">
                <a:moveTo>
                  <a:pt x="749362" y="0"/>
                </a:moveTo>
                <a:lnTo>
                  <a:pt x="4925479" y="0"/>
                </a:lnTo>
                <a:lnTo>
                  <a:pt x="4921868" y="209033"/>
                </a:lnTo>
                <a:cubicBezTo>
                  <a:pt x="4884554" y="1286766"/>
                  <a:pt x="4644496" y="2286187"/>
                  <a:pt x="4256422" y="3127175"/>
                </a:cubicBezTo>
                <a:lnTo>
                  <a:pt x="4134952" y="3364992"/>
                </a:lnTo>
                <a:lnTo>
                  <a:pt x="0" y="3364992"/>
                </a:lnTo>
                <a:lnTo>
                  <a:pt x="79008" y="3202330"/>
                </a:lnTo>
                <a:cubicBezTo>
                  <a:pt x="467082" y="2361343"/>
                  <a:pt x="707140" y="1361922"/>
                  <a:pt x="744454" y="284189"/>
                </a:cubicBezTo>
                <a:close/>
              </a:path>
            </a:pathLst>
          </a:custGeom>
          <a:noFill/>
          <a:extLst>
            <a:ext uri="{909E8E84-426E-40DD-AFC4-6F175D3DCCD1}">
              <a14:hiddenFill xmlns:a14="http://schemas.microsoft.com/office/drawing/2010/main">
                <a:solidFill>
                  <a:srgbClr val="FFFFFF"/>
                </a:solidFill>
              </a14:hiddenFill>
            </a:ext>
          </a:extLst>
        </p:spPr>
      </p:pic>
      <p:sp useBgFill="1">
        <p:nvSpPr>
          <p:cNvPr id="1051" name="Freeform: Shape 1042">
            <a:extLst>
              <a:ext uri="{FF2B5EF4-FFF2-40B4-BE49-F238E27FC236}">
                <a16:creationId xmlns:a16="http://schemas.microsoft.com/office/drawing/2014/main" id="{AC0D06B0-F19C-459E-B221-A34B506FB5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45815" cy="6858000"/>
          </a:xfrm>
          <a:custGeom>
            <a:avLst/>
            <a:gdLst>
              <a:gd name="connsiteX0" fmla="*/ 0 w 3945815"/>
              <a:gd name="connsiteY0" fmla="*/ 0 h 6858000"/>
              <a:gd name="connsiteX1" fmla="*/ 3138662 w 3945815"/>
              <a:gd name="connsiteY1" fmla="*/ 0 h 6858000"/>
              <a:gd name="connsiteX2" fmla="*/ 3275260 w 3945815"/>
              <a:gd name="connsiteY2" fmla="*/ 267438 h 6858000"/>
              <a:gd name="connsiteX3" fmla="*/ 3945815 w 3945815"/>
              <a:gd name="connsiteY3" fmla="*/ 3481388 h 6858000"/>
              <a:gd name="connsiteX4" fmla="*/ 3275260 w 3945815"/>
              <a:gd name="connsiteY4" fmla="*/ 6695338 h 6858000"/>
              <a:gd name="connsiteX5" fmla="*/ 3192177 w 3945815"/>
              <a:gd name="connsiteY5" fmla="*/ 6858000 h 6858000"/>
              <a:gd name="connsiteX6" fmla="*/ 0 w 394581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5815" h="6858000">
                <a:moveTo>
                  <a:pt x="0" y="0"/>
                </a:moveTo>
                <a:lnTo>
                  <a:pt x="3138662" y="0"/>
                </a:lnTo>
                <a:lnTo>
                  <a:pt x="3275260" y="267438"/>
                </a:lnTo>
                <a:cubicBezTo>
                  <a:pt x="3698614" y="1184879"/>
                  <a:pt x="3945815" y="2290869"/>
                  <a:pt x="3945815" y="3481388"/>
                </a:cubicBezTo>
                <a:cubicBezTo>
                  <a:pt x="3945815" y="4671908"/>
                  <a:pt x="3698614" y="5777898"/>
                  <a:pt x="3275260" y="6695338"/>
                </a:cubicBezTo>
                <a:lnTo>
                  <a:pt x="3192177" y="6858000"/>
                </a:lnTo>
                <a:lnTo>
                  <a:pt x="0" y="6858000"/>
                </a:lnTo>
                <a:close/>
              </a:path>
            </a:pathLst>
          </a:custGeom>
          <a:ln w="9525">
            <a:solidFill>
              <a:srgbClr val="EFEFEF"/>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052" name="Freeform: Shape 1044">
            <a:extLst>
              <a:ext uri="{FF2B5EF4-FFF2-40B4-BE49-F238E27FC236}">
                <a16:creationId xmlns:a16="http://schemas.microsoft.com/office/drawing/2014/main" id="{345B26DA-1C6B-4C66-81C9-9C1877FC2D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936670" cy="6858000"/>
          </a:xfrm>
          <a:custGeom>
            <a:avLst/>
            <a:gdLst>
              <a:gd name="connsiteX0" fmla="*/ 0 w 3936670"/>
              <a:gd name="connsiteY0" fmla="*/ 0 h 6858000"/>
              <a:gd name="connsiteX1" fmla="*/ 3129517 w 3936670"/>
              <a:gd name="connsiteY1" fmla="*/ 0 h 6858000"/>
              <a:gd name="connsiteX2" fmla="*/ 3266115 w 3936670"/>
              <a:gd name="connsiteY2" fmla="*/ 267438 h 6858000"/>
              <a:gd name="connsiteX3" fmla="*/ 3936670 w 3936670"/>
              <a:gd name="connsiteY3" fmla="*/ 3481388 h 6858000"/>
              <a:gd name="connsiteX4" fmla="*/ 3266115 w 3936670"/>
              <a:gd name="connsiteY4" fmla="*/ 6695338 h 6858000"/>
              <a:gd name="connsiteX5" fmla="*/ 3183032 w 3936670"/>
              <a:gd name="connsiteY5" fmla="*/ 6858000 h 6858000"/>
              <a:gd name="connsiteX6" fmla="*/ 0 w 39366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6670" h="6858000">
                <a:moveTo>
                  <a:pt x="0" y="0"/>
                </a:moveTo>
                <a:lnTo>
                  <a:pt x="3129517" y="0"/>
                </a:lnTo>
                <a:lnTo>
                  <a:pt x="3266115" y="267438"/>
                </a:lnTo>
                <a:cubicBezTo>
                  <a:pt x="3689469" y="1184879"/>
                  <a:pt x="3936670" y="2290869"/>
                  <a:pt x="3936670" y="3481388"/>
                </a:cubicBezTo>
                <a:cubicBezTo>
                  <a:pt x="3936670" y="4671908"/>
                  <a:pt x="3689469" y="5777898"/>
                  <a:pt x="3266115" y="6695338"/>
                </a:cubicBezTo>
                <a:lnTo>
                  <a:pt x="3183032"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el 1">
            <a:extLst>
              <a:ext uri="{FF2B5EF4-FFF2-40B4-BE49-F238E27FC236}">
                <a16:creationId xmlns:a16="http://schemas.microsoft.com/office/drawing/2014/main" id="{158B3E49-90BC-EA39-9D92-9AF89272950F}"/>
              </a:ext>
            </a:extLst>
          </p:cNvPr>
          <p:cNvSpPr>
            <a:spLocks noGrp="1"/>
          </p:cNvSpPr>
          <p:nvPr>
            <p:ph type="title"/>
          </p:nvPr>
        </p:nvSpPr>
        <p:spPr>
          <a:xfrm>
            <a:off x="329181" y="670009"/>
            <a:ext cx="2807208" cy="1325563"/>
          </a:xfrm>
        </p:spPr>
        <p:txBody>
          <a:bodyPr>
            <a:normAutofit/>
          </a:bodyPr>
          <a:lstStyle/>
          <a:p>
            <a:r>
              <a:rPr lang="en-GB" b="1" dirty="0"/>
              <a:t>Motivation</a:t>
            </a:r>
          </a:p>
        </p:txBody>
      </p:sp>
      <p:sp>
        <p:nvSpPr>
          <p:cNvPr id="1053" name="Rectangle 1046">
            <a:extLst>
              <a:ext uri="{FF2B5EF4-FFF2-40B4-BE49-F238E27FC236}">
                <a16:creationId xmlns:a16="http://schemas.microsoft.com/office/drawing/2014/main" id="{98DE6C44-43F8-4DE4-AB81-66853FFEA0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005840"/>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54" name="Rectangle 1048">
            <a:extLst>
              <a:ext uri="{FF2B5EF4-FFF2-40B4-BE49-F238E27FC236}">
                <a16:creationId xmlns:a16="http://schemas.microsoft.com/office/drawing/2014/main" id="{2409529B-9B56-4F10-BE4D-F934DB89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8912" y="2089941"/>
            <a:ext cx="2834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Inhaltsplatzhalter 2">
            <a:extLst>
              <a:ext uri="{FF2B5EF4-FFF2-40B4-BE49-F238E27FC236}">
                <a16:creationId xmlns:a16="http://schemas.microsoft.com/office/drawing/2014/main" id="{4F4C7BC9-A00B-EE9F-75DB-6810A3371F9A}"/>
              </a:ext>
            </a:extLst>
          </p:cNvPr>
          <p:cNvSpPr>
            <a:spLocks noGrp="1"/>
          </p:cNvSpPr>
          <p:nvPr>
            <p:ph idx="1"/>
          </p:nvPr>
        </p:nvSpPr>
        <p:spPr>
          <a:xfrm>
            <a:off x="288451" y="2521726"/>
            <a:ext cx="3126418" cy="3922776"/>
          </a:xfrm>
        </p:spPr>
        <p:txBody>
          <a:bodyPr>
            <a:normAutofit/>
          </a:bodyPr>
          <a:lstStyle/>
          <a:p>
            <a:pPr>
              <a:spcAft>
                <a:spcPts val="1200"/>
              </a:spcAft>
            </a:pPr>
            <a:r>
              <a:rPr lang="de-DE" sz="1700" b="1" dirty="0" err="1"/>
              <a:t>Autonomous</a:t>
            </a:r>
            <a:r>
              <a:rPr lang="de-DE" sz="1700" b="1" dirty="0"/>
              <a:t> </a:t>
            </a:r>
            <a:r>
              <a:rPr lang="de-DE" sz="1700" b="1" dirty="0" err="1"/>
              <a:t>driving</a:t>
            </a:r>
            <a:r>
              <a:rPr lang="de-DE" sz="1700" dirty="0"/>
              <a:t> </a:t>
            </a:r>
            <a:r>
              <a:rPr lang="de-DE" sz="1700" dirty="0" err="1"/>
              <a:t>requires</a:t>
            </a:r>
            <a:r>
              <a:rPr lang="de-DE" sz="1700" dirty="0"/>
              <a:t> </a:t>
            </a:r>
            <a:r>
              <a:rPr lang="de-DE" sz="1700" b="1" dirty="0"/>
              <a:t>reliable </a:t>
            </a:r>
            <a:r>
              <a:rPr lang="de-DE" sz="1700" b="1" dirty="0" err="1"/>
              <a:t>object</a:t>
            </a:r>
            <a:r>
              <a:rPr lang="de-DE" sz="1700" b="1" dirty="0"/>
              <a:t> </a:t>
            </a:r>
            <a:r>
              <a:rPr lang="de-DE" sz="1700" b="1" dirty="0" err="1"/>
              <a:t>detection</a:t>
            </a:r>
            <a:endParaRPr lang="de-DE" sz="1700" b="1" dirty="0"/>
          </a:p>
          <a:p>
            <a:pPr>
              <a:spcAft>
                <a:spcPts val="1200"/>
              </a:spcAft>
            </a:pPr>
            <a:r>
              <a:rPr lang="de-DE" sz="1700" dirty="0"/>
              <a:t>Fog, rain, and </a:t>
            </a:r>
            <a:r>
              <a:rPr lang="de-DE" sz="1700" dirty="0" err="1"/>
              <a:t>snow</a:t>
            </a:r>
            <a:r>
              <a:rPr lang="de-DE" sz="1700" dirty="0"/>
              <a:t> </a:t>
            </a:r>
            <a:r>
              <a:rPr lang="de-DE" sz="1700" dirty="0" err="1"/>
              <a:t>cause</a:t>
            </a:r>
            <a:br>
              <a:rPr lang="de-DE" sz="1700" dirty="0"/>
            </a:br>
            <a:r>
              <a:rPr lang="de-DE" sz="1700" dirty="0" err="1"/>
              <a:t>scattering</a:t>
            </a:r>
            <a:r>
              <a:rPr lang="de-DE" sz="1700" dirty="0"/>
              <a:t>, glare &amp; </a:t>
            </a:r>
            <a:r>
              <a:rPr lang="de-DE" sz="1700" dirty="0" err="1"/>
              <a:t>attenuation</a:t>
            </a:r>
            <a:r>
              <a:rPr lang="de-DE" sz="1700" dirty="0"/>
              <a:t> </a:t>
            </a:r>
            <a:br>
              <a:rPr lang="de-DE" sz="1700" dirty="0"/>
            </a:br>
            <a:r>
              <a:rPr lang="de-DE" sz="1700" dirty="0">
                <a:sym typeface="Wingdings" pitchFamily="2" charset="2"/>
              </a:rPr>
              <a:t> </a:t>
            </a:r>
            <a:r>
              <a:rPr lang="de-DE" sz="1700" b="1" dirty="0" err="1">
                <a:sym typeface="Wingdings" pitchFamily="2" charset="2"/>
              </a:rPr>
              <a:t>reduced</a:t>
            </a:r>
            <a:r>
              <a:rPr lang="de-DE" sz="1700" b="1" dirty="0">
                <a:sym typeface="Wingdings" pitchFamily="2" charset="2"/>
              </a:rPr>
              <a:t> </a:t>
            </a:r>
            <a:r>
              <a:rPr lang="de-DE" sz="1700" b="1" dirty="0" err="1">
                <a:sym typeface="Wingdings" pitchFamily="2" charset="2"/>
              </a:rPr>
              <a:t>image</a:t>
            </a:r>
            <a:r>
              <a:rPr lang="de-DE" sz="1700" b="1" dirty="0">
                <a:sym typeface="Wingdings" pitchFamily="2" charset="2"/>
              </a:rPr>
              <a:t> </a:t>
            </a:r>
            <a:r>
              <a:rPr lang="de-DE" sz="1700" b="1" dirty="0" err="1">
                <a:sym typeface="Wingdings" pitchFamily="2" charset="2"/>
              </a:rPr>
              <a:t>quality</a:t>
            </a:r>
            <a:endParaRPr lang="de-DE" sz="1700" b="1" dirty="0"/>
          </a:p>
          <a:p>
            <a:pPr>
              <a:spcAft>
                <a:spcPts val="1200"/>
              </a:spcAft>
            </a:pPr>
            <a:r>
              <a:rPr lang="de-DE" sz="1700" dirty="0"/>
              <a:t>Even </a:t>
            </a:r>
            <a:r>
              <a:rPr lang="de-DE" sz="1700" dirty="0" err="1"/>
              <a:t>state</a:t>
            </a:r>
            <a:r>
              <a:rPr lang="de-DE" sz="1700" dirty="0"/>
              <a:t>-</a:t>
            </a:r>
            <a:r>
              <a:rPr lang="de-DE" sz="1700" dirty="0" err="1"/>
              <a:t>of</a:t>
            </a:r>
            <a:r>
              <a:rPr lang="de-DE" sz="1700" dirty="0"/>
              <a:t>-</a:t>
            </a:r>
            <a:r>
              <a:rPr lang="de-DE" sz="1700" dirty="0" err="1"/>
              <a:t>the</a:t>
            </a:r>
            <a:r>
              <a:rPr lang="de-DE" sz="1700" dirty="0"/>
              <a:t>-art </a:t>
            </a:r>
            <a:r>
              <a:rPr lang="de-DE" sz="1700" dirty="0" err="1"/>
              <a:t>deep</a:t>
            </a:r>
            <a:r>
              <a:rPr lang="de-DE" sz="1700" dirty="0"/>
              <a:t> </a:t>
            </a:r>
            <a:r>
              <a:rPr lang="de-DE" sz="1700" dirty="0" err="1"/>
              <a:t>detectors</a:t>
            </a:r>
            <a:r>
              <a:rPr lang="de-DE" sz="1700" dirty="0"/>
              <a:t> </a:t>
            </a:r>
            <a:r>
              <a:rPr lang="de-DE" sz="1700" dirty="0" err="1"/>
              <a:t>struggle</a:t>
            </a:r>
            <a:r>
              <a:rPr lang="de-DE" sz="1700" dirty="0"/>
              <a:t> </a:t>
            </a:r>
            <a:r>
              <a:rPr lang="de-DE" sz="1700" dirty="0" err="1"/>
              <a:t>under</a:t>
            </a:r>
            <a:r>
              <a:rPr lang="de-DE" sz="1700" dirty="0"/>
              <a:t> adverse </a:t>
            </a:r>
            <a:r>
              <a:rPr lang="de-DE" sz="1700" dirty="0" err="1"/>
              <a:t>conditions</a:t>
            </a:r>
            <a:endParaRPr lang="de-DE" sz="1700" dirty="0"/>
          </a:p>
        </p:txBody>
      </p:sp>
      <p:pic>
        <p:nvPicPr>
          <p:cNvPr id="1032" name="Picture 8" descr="Adverse Weather Object Detection Object Detection Dataset by Adverse Weather">
            <a:extLst>
              <a:ext uri="{FF2B5EF4-FFF2-40B4-BE49-F238E27FC236}">
                <a16:creationId xmlns:a16="http://schemas.microsoft.com/office/drawing/2014/main" id="{30C011E6-B89D-68C6-CA9A-D90366423E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t="219" b="4926"/>
          <a:stretch>
            <a:fillRect/>
          </a:stretch>
        </p:blipFill>
        <p:spPr bwMode="auto">
          <a:xfrm>
            <a:off x="7404372" y="10"/>
            <a:ext cx="4787628" cy="3401558"/>
          </a:xfrm>
          <a:custGeom>
            <a:avLst/>
            <a:gdLst/>
            <a:ahLst/>
            <a:cxnLst/>
            <a:rect l="l" t="t" r="r" b="b"/>
            <a:pathLst>
              <a:path w="4787628" h="3401568">
                <a:moveTo>
                  <a:pt x="0" y="0"/>
                </a:moveTo>
                <a:lnTo>
                  <a:pt x="4787628" y="0"/>
                </a:lnTo>
                <a:lnTo>
                  <a:pt x="4787628" y="3401568"/>
                </a:lnTo>
                <a:lnTo>
                  <a:pt x="762748" y="3401568"/>
                </a:lnTo>
                <a:lnTo>
                  <a:pt x="751436" y="2963954"/>
                </a:lnTo>
                <a:cubicBezTo>
                  <a:pt x="698408" y="1942163"/>
                  <a:pt x="463174" y="995044"/>
                  <a:pt x="93264" y="192283"/>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667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8B3E49-90BC-EA39-9D92-9AF89272950F}"/>
              </a:ext>
            </a:extLst>
          </p:cNvPr>
          <p:cNvSpPr>
            <a:spLocks noGrp="1"/>
          </p:cNvSpPr>
          <p:nvPr>
            <p:ph type="title"/>
          </p:nvPr>
        </p:nvSpPr>
        <p:spPr>
          <a:xfrm>
            <a:off x="640080" y="415636"/>
            <a:ext cx="4368602" cy="845179"/>
          </a:xfrm>
        </p:spPr>
        <p:txBody>
          <a:bodyPr anchor="b">
            <a:normAutofit/>
          </a:bodyPr>
          <a:lstStyle/>
          <a:p>
            <a:r>
              <a:rPr lang="en-GB" sz="5400" b="1" dirty="0"/>
              <a:t>Motivation</a:t>
            </a:r>
          </a:p>
        </p:txBody>
      </p:sp>
      <p:sp>
        <p:nvSpPr>
          <p:cNvPr id="3" name="Inhaltsplatzhalter 2">
            <a:extLst>
              <a:ext uri="{FF2B5EF4-FFF2-40B4-BE49-F238E27FC236}">
                <a16:creationId xmlns:a16="http://schemas.microsoft.com/office/drawing/2014/main" id="{4F4C7BC9-A00B-EE9F-75DB-6810A3371F9A}"/>
              </a:ext>
            </a:extLst>
          </p:cNvPr>
          <p:cNvSpPr>
            <a:spLocks noGrp="1"/>
          </p:cNvSpPr>
          <p:nvPr>
            <p:ph idx="1"/>
          </p:nvPr>
        </p:nvSpPr>
        <p:spPr>
          <a:xfrm>
            <a:off x="268778" y="1260815"/>
            <a:ext cx="5827222" cy="4673698"/>
          </a:xfrm>
        </p:spPr>
        <p:txBody>
          <a:bodyPr anchor="ctr">
            <a:noAutofit/>
          </a:bodyPr>
          <a:lstStyle/>
          <a:p>
            <a:pPr>
              <a:spcAft>
                <a:spcPts val="1200"/>
              </a:spcAft>
            </a:pPr>
            <a:r>
              <a:rPr lang="de-DE" sz="1800" b="1" dirty="0" err="1"/>
              <a:t>Autonomous</a:t>
            </a:r>
            <a:r>
              <a:rPr lang="de-DE" sz="1800" b="1" dirty="0"/>
              <a:t> </a:t>
            </a:r>
            <a:r>
              <a:rPr lang="de-DE" sz="1800" b="1" dirty="0" err="1"/>
              <a:t>driving</a:t>
            </a:r>
            <a:r>
              <a:rPr lang="de-DE" sz="1800" dirty="0"/>
              <a:t> </a:t>
            </a:r>
            <a:r>
              <a:rPr lang="de-DE" sz="1800" dirty="0" err="1"/>
              <a:t>requires</a:t>
            </a:r>
            <a:r>
              <a:rPr lang="de-DE" sz="1800" dirty="0"/>
              <a:t> </a:t>
            </a:r>
            <a:r>
              <a:rPr lang="de-DE" sz="1800" b="1" dirty="0"/>
              <a:t>reliable </a:t>
            </a:r>
            <a:r>
              <a:rPr lang="de-DE" sz="1800" b="1" dirty="0" err="1"/>
              <a:t>object</a:t>
            </a:r>
            <a:r>
              <a:rPr lang="de-DE" sz="1800" b="1" dirty="0"/>
              <a:t> </a:t>
            </a:r>
            <a:r>
              <a:rPr lang="de-DE" sz="1800" b="1" dirty="0" err="1"/>
              <a:t>detection</a:t>
            </a:r>
            <a:endParaRPr lang="de-DE" sz="1800" b="1" dirty="0"/>
          </a:p>
          <a:p>
            <a:pPr>
              <a:spcAft>
                <a:spcPts val="1200"/>
              </a:spcAft>
            </a:pPr>
            <a:r>
              <a:rPr lang="de-DE" sz="1800" dirty="0"/>
              <a:t>Fog, rain, and </a:t>
            </a:r>
            <a:r>
              <a:rPr lang="de-DE" sz="1800" dirty="0" err="1"/>
              <a:t>snow</a:t>
            </a:r>
            <a:r>
              <a:rPr lang="de-DE" sz="1800" dirty="0"/>
              <a:t> </a:t>
            </a:r>
            <a:r>
              <a:rPr lang="de-DE" sz="1800" dirty="0" err="1"/>
              <a:t>cause</a:t>
            </a:r>
            <a:r>
              <a:rPr lang="de-DE" sz="1800" dirty="0"/>
              <a:t> </a:t>
            </a:r>
            <a:r>
              <a:rPr lang="de-DE" sz="1800" dirty="0" err="1"/>
              <a:t>scattering</a:t>
            </a:r>
            <a:r>
              <a:rPr lang="de-DE" sz="1800" dirty="0"/>
              <a:t>, glare &amp; </a:t>
            </a:r>
            <a:r>
              <a:rPr lang="de-DE" sz="1800" dirty="0" err="1"/>
              <a:t>attenuation</a:t>
            </a:r>
            <a:r>
              <a:rPr lang="de-DE" sz="1800" dirty="0"/>
              <a:t> </a:t>
            </a:r>
            <a:r>
              <a:rPr lang="de-DE" sz="1800" dirty="0">
                <a:sym typeface="Wingdings" pitchFamily="2" charset="2"/>
              </a:rPr>
              <a:t> </a:t>
            </a:r>
            <a:r>
              <a:rPr lang="de-DE" sz="1800" b="1" dirty="0" err="1">
                <a:sym typeface="Wingdings" pitchFamily="2" charset="2"/>
              </a:rPr>
              <a:t>reduced</a:t>
            </a:r>
            <a:r>
              <a:rPr lang="de-DE" sz="1800" b="1" dirty="0">
                <a:sym typeface="Wingdings" pitchFamily="2" charset="2"/>
              </a:rPr>
              <a:t> </a:t>
            </a:r>
            <a:r>
              <a:rPr lang="de-DE" sz="1800" b="1" dirty="0" err="1">
                <a:sym typeface="Wingdings" pitchFamily="2" charset="2"/>
              </a:rPr>
              <a:t>image</a:t>
            </a:r>
            <a:r>
              <a:rPr lang="de-DE" sz="1800" b="1" dirty="0">
                <a:sym typeface="Wingdings" pitchFamily="2" charset="2"/>
              </a:rPr>
              <a:t> </a:t>
            </a:r>
            <a:r>
              <a:rPr lang="de-DE" sz="1800" b="1" dirty="0" err="1">
                <a:sym typeface="Wingdings" pitchFamily="2" charset="2"/>
              </a:rPr>
              <a:t>quality</a:t>
            </a:r>
            <a:endParaRPr lang="de-DE" sz="1800" b="1" dirty="0"/>
          </a:p>
          <a:p>
            <a:pPr>
              <a:spcAft>
                <a:spcPts val="1200"/>
              </a:spcAft>
            </a:pPr>
            <a:r>
              <a:rPr lang="de-DE" sz="1800" dirty="0"/>
              <a:t>Even </a:t>
            </a:r>
            <a:r>
              <a:rPr lang="de-DE" sz="1800" dirty="0" err="1"/>
              <a:t>state</a:t>
            </a:r>
            <a:r>
              <a:rPr lang="de-DE" sz="1800" dirty="0"/>
              <a:t>-</a:t>
            </a:r>
            <a:r>
              <a:rPr lang="de-DE" sz="1800" dirty="0" err="1"/>
              <a:t>of</a:t>
            </a:r>
            <a:r>
              <a:rPr lang="de-DE" sz="1800" dirty="0"/>
              <a:t>-</a:t>
            </a:r>
            <a:r>
              <a:rPr lang="de-DE" sz="1800" dirty="0" err="1"/>
              <a:t>the</a:t>
            </a:r>
            <a:r>
              <a:rPr lang="de-DE" sz="1800" dirty="0"/>
              <a:t>-art </a:t>
            </a:r>
            <a:r>
              <a:rPr lang="de-DE" sz="1800" dirty="0" err="1"/>
              <a:t>deep</a:t>
            </a:r>
            <a:r>
              <a:rPr lang="de-DE" sz="1800" dirty="0"/>
              <a:t> </a:t>
            </a:r>
            <a:r>
              <a:rPr lang="de-DE" sz="1800" dirty="0" err="1"/>
              <a:t>detectors</a:t>
            </a:r>
            <a:r>
              <a:rPr lang="de-DE" sz="1800" dirty="0"/>
              <a:t> </a:t>
            </a:r>
            <a:r>
              <a:rPr lang="de-DE" sz="1800" dirty="0" err="1"/>
              <a:t>struggle</a:t>
            </a:r>
            <a:r>
              <a:rPr lang="de-DE" sz="1800" dirty="0"/>
              <a:t> </a:t>
            </a:r>
            <a:r>
              <a:rPr lang="de-DE" sz="1800" dirty="0" err="1"/>
              <a:t>under</a:t>
            </a:r>
            <a:r>
              <a:rPr lang="de-DE" sz="1800" dirty="0"/>
              <a:t> adverse </a:t>
            </a:r>
            <a:r>
              <a:rPr lang="de-DE" sz="1800" dirty="0" err="1"/>
              <a:t>conditions</a:t>
            </a:r>
            <a:endParaRPr lang="de-DE" sz="1800" dirty="0"/>
          </a:p>
        </p:txBody>
      </p:sp>
      <p:pic>
        <p:nvPicPr>
          <p:cNvPr id="1028" name="Picture 4">
            <a:extLst>
              <a:ext uri="{FF2B5EF4-FFF2-40B4-BE49-F238E27FC236}">
                <a16:creationId xmlns:a16="http://schemas.microsoft.com/office/drawing/2014/main" id="{B4C2CA35-5A0A-3F9A-3C0D-8F7E47DE32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6585" r="6714"/>
          <a:stretch>
            <a:fillRect/>
          </a:stretch>
        </p:blipFill>
        <p:spPr bwMode="auto">
          <a:xfrm>
            <a:off x="5902036" y="10"/>
            <a:ext cx="628844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230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0746942-B8F6-FA73-0648-FCA3A43ACDA3}"/>
              </a:ext>
            </a:extLst>
          </p:cNvPr>
          <p:cNvSpPr>
            <a:spLocks noGrp="1"/>
          </p:cNvSpPr>
          <p:nvPr>
            <p:ph type="title"/>
          </p:nvPr>
        </p:nvSpPr>
        <p:spPr>
          <a:xfrm>
            <a:off x="294484" y="68836"/>
            <a:ext cx="10515600" cy="1325563"/>
          </a:xfrm>
        </p:spPr>
        <p:txBody>
          <a:bodyPr/>
          <a:lstStyle/>
          <a:p>
            <a:r>
              <a:rPr lang="en-GB" b="1" dirty="0"/>
              <a:t>Previous Work</a:t>
            </a:r>
          </a:p>
        </p:txBody>
      </p:sp>
      <p:sp>
        <p:nvSpPr>
          <p:cNvPr id="6" name="Inhaltsplatzhalter 5">
            <a:extLst>
              <a:ext uri="{FF2B5EF4-FFF2-40B4-BE49-F238E27FC236}">
                <a16:creationId xmlns:a16="http://schemas.microsoft.com/office/drawing/2014/main" id="{FFF66A1C-7C4A-4931-0860-D73295941939}"/>
              </a:ext>
            </a:extLst>
          </p:cNvPr>
          <p:cNvSpPr>
            <a:spLocks noGrp="1"/>
          </p:cNvSpPr>
          <p:nvPr>
            <p:ph idx="1"/>
          </p:nvPr>
        </p:nvSpPr>
        <p:spPr>
          <a:xfrm>
            <a:off x="294484" y="1155824"/>
            <a:ext cx="6024119" cy="4707304"/>
          </a:xfrm>
        </p:spPr>
        <p:txBody>
          <a:bodyPr lIns="90000" anchor="ctr">
            <a:normAutofit/>
          </a:bodyPr>
          <a:lstStyle/>
          <a:p>
            <a:pPr>
              <a:spcAft>
                <a:spcPts val="1200"/>
              </a:spcAft>
            </a:pPr>
            <a:r>
              <a:rPr lang="de-DE" sz="1800" dirty="0" err="1"/>
              <a:t>Weather</a:t>
            </a:r>
            <a:r>
              <a:rPr lang="de-DE" sz="1800" dirty="0"/>
              <a:t>-diverse </a:t>
            </a:r>
            <a:r>
              <a:rPr lang="de-DE" sz="1800" dirty="0" err="1"/>
              <a:t>datasets</a:t>
            </a:r>
            <a:r>
              <a:rPr lang="de-DE" sz="1800" dirty="0"/>
              <a:t> (</a:t>
            </a:r>
            <a:r>
              <a:rPr lang="de-DE" sz="1800" dirty="0" err="1"/>
              <a:t>Cityscapes</a:t>
            </a:r>
            <a:r>
              <a:rPr lang="de-DE" sz="1800" dirty="0"/>
              <a:t>, DAWN, ACDC, RTTS) </a:t>
            </a:r>
            <a:r>
              <a:rPr lang="de-DE" sz="1800" dirty="0" err="1"/>
              <a:t>containing</a:t>
            </a:r>
            <a:r>
              <a:rPr lang="de-DE" sz="1800" dirty="0"/>
              <a:t> </a:t>
            </a:r>
            <a:r>
              <a:rPr lang="de-DE" sz="1800" dirty="0" err="1"/>
              <a:t>synthesized</a:t>
            </a:r>
            <a:r>
              <a:rPr lang="de-DE" sz="1800" dirty="0"/>
              <a:t>/real </a:t>
            </a:r>
            <a:r>
              <a:rPr lang="de-DE" sz="1800" dirty="0" err="1"/>
              <a:t>foggy</a:t>
            </a:r>
            <a:r>
              <a:rPr lang="de-DE" sz="1800" dirty="0"/>
              <a:t> </a:t>
            </a:r>
            <a:r>
              <a:rPr lang="de-DE" sz="1800" dirty="0" err="1"/>
              <a:t>images</a:t>
            </a:r>
            <a:r>
              <a:rPr lang="de-DE" sz="1800" dirty="0"/>
              <a:t> </a:t>
            </a:r>
          </a:p>
          <a:p>
            <a:pPr>
              <a:spcAft>
                <a:spcPts val="1200"/>
              </a:spcAft>
            </a:pPr>
            <a:r>
              <a:rPr lang="de-DE" sz="1800" dirty="0"/>
              <a:t>Digital-domain </a:t>
            </a:r>
            <a:r>
              <a:rPr lang="de-DE" sz="1800" dirty="0" err="1"/>
              <a:t>solutions</a:t>
            </a:r>
            <a:r>
              <a:rPr lang="de-DE" sz="1800" dirty="0"/>
              <a:t> (R-YOLO [1], IA-YOLO [2]) </a:t>
            </a:r>
            <a:r>
              <a:rPr lang="de-DE" sz="1800" dirty="0" err="1"/>
              <a:t>mainly</a:t>
            </a:r>
            <a:r>
              <a:rPr lang="de-DE" sz="1800" dirty="0"/>
              <a:t> </a:t>
            </a:r>
            <a:r>
              <a:rPr lang="de-DE" sz="1800" dirty="0" err="1"/>
              <a:t>focussing</a:t>
            </a:r>
            <a:r>
              <a:rPr lang="de-DE" sz="1800" dirty="0"/>
              <a:t> on </a:t>
            </a:r>
            <a:r>
              <a:rPr lang="de-DE" sz="1800" dirty="0" err="1"/>
              <a:t>improvements</a:t>
            </a:r>
            <a:r>
              <a:rPr lang="de-DE" sz="1800" dirty="0"/>
              <a:t> on software-</a:t>
            </a:r>
            <a:r>
              <a:rPr lang="de-DE" sz="1800" dirty="0" err="1"/>
              <a:t>side</a:t>
            </a:r>
            <a:r>
              <a:rPr lang="de-DE" sz="1800" dirty="0"/>
              <a:t>:</a:t>
            </a:r>
          </a:p>
          <a:p>
            <a:pPr lvl="1">
              <a:spcBef>
                <a:spcPts val="0"/>
              </a:spcBef>
              <a:spcAft>
                <a:spcPts val="600"/>
              </a:spcAft>
            </a:pPr>
            <a:r>
              <a:rPr lang="de-DE" sz="1800" dirty="0"/>
              <a:t>network </a:t>
            </a:r>
            <a:r>
              <a:rPr lang="de-DE" sz="1800" dirty="0" err="1"/>
              <a:t>adaption</a:t>
            </a:r>
            <a:endParaRPr lang="de-DE" sz="1800" dirty="0"/>
          </a:p>
          <a:p>
            <a:pPr lvl="1">
              <a:spcBef>
                <a:spcPts val="0"/>
              </a:spcBef>
              <a:spcAft>
                <a:spcPts val="600"/>
              </a:spcAft>
            </a:pPr>
            <a:r>
              <a:rPr lang="de-DE" sz="1800" dirty="0" err="1"/>
              <a:t>preprocessing</a:t>
            </a:r>
            <a:r>
              <a:rPr lang="de-DE" sz="1800" dirty="0"/>
              <a:t> </a:t>
            </a:r>
            <a:r>
              <a:rPr lang="de-DE" sz="1800" dirty="0" err="1"/>
              <a:t>of</a:t>
            </a:r>
            <a:r>
              <a:rPr lang="de-DE" sz="1800" dirty="0"/>
              <a:t> </a:t>
            </a:r>
            <a:r>
              <a:rPr lang="de-DE" sz="1800" dirty="0" err="1"/>
              <a:t>images</a:t>
            </a:r>
            <a:endParaRPr lang="de-DE" sz="1800" dirty="0"/>
          </a:p>
          <a:p>
            <a:pPr lvl="1">
              <a:spcBef>
                <a:spcPts val="0"/>
              </a:spcBef>
              <a:spcAft>
                <a:spcPts val="1200"/>
              </a:spcAft>
            </a:pPr>
            <a:r>
              <a:rPr lang="de-DE" sz="1800" dirty="0" err="1"/>
              <a:t>image</a:t>
            </a:r>
            <a:r>
              <a:rPr lang="de-DE" sz="1800" dirty="0"/>
              <a:t> </a:t>
            </a:r>
            <a:r>
              <a:rPr lang="de-DE" sz="1800" dirty="0" err="1"/>
              <a:t>enhancement</a:t>
            </a:r>
            <a:endParaRPr lang="de-DE" sz="1800" dirty="0"/>
          </a:p>
          <a:p>
            <a:pPr>
              <a:spcAft>
                <a:spcPts val="1200"/>
              </a:spcAft>
              <a:buFont typeface="Arial" panose="020B0604020202020204" pitchFamily="34" charset="0"/>
              <a:buChar char="•"/>
            </a:pPr>
            <a:r>
              <a:rPr lang="de-DE" sz="1800" dirty="0" err="1"/>
              <a:t>Visibility</a:t>
            </a:r>
            <a:r>
              <a:rPr lang="de-DE" sz="1800" dirty="0"/>
              <a:t> </a:t>
            </a:r>
            <a:r>
              <a:rPr lang="de-DE" sz="1800" dirty="0" err="1"/>
              <a:t>issues</a:t>
            </a:r>
            <a:r>
              <a:rPr lang="de-DE" sz="1800" dirty="0"/>
              <a:t> </a:t>
            </a:r>
            <a:r>
              <a:rPr lang="de-DE" sz="1800" dirty="0" err="1"/>
              <a:t>from</a:t>
            </a:r>
            <a:r>
              <a:rPr lang="de-DE" sz="1800" dirty="0"/>
              <a:t> </a:t>
            </a:r>
            <a:r>
              <a:rPr lang="de-DE" sz="1800" dirty="0" err="1"/>
              <a:t>scattering</a:t>
            </a:r>
            <a:r>
              <a:rPr lang="de-DE" sz="1800" dirty="0"/>
              <a:t>/</a:t>
            </a:r>
            <a:r>
              <a:rPr lang="de-DE" sz="1800" dirty="0" err="1"/>
              <a:t>attenuation</a:t>
            </a:r>
            <a:r>
              <a:rPr lang="de-DE" sz="1800" dirty="0"/>
              <a:t> </a:t>
            </a:r>
            <a:r>
              <a:rPr lang="de-DE" sz="1800" dirty="0" err="1"/>
              <a:t>remain</a:t>
            </a:r>
            <a:r>
              <a:rPr lang="de-DE" sz="1800" dirty="0"/>
              <a:t> </a:t>
            </a:r>
            <a:r>
              <a:rPr lang="de-DE" sz="1800" dirty="0" err="1"/>
              <a:t>unresolved</a:t>
            </a:r>
            <a:endParaRPr lang="de-DE" sz="1800" dirty="0"/>
          </a:p>
          <a:p>
            <a:pPr>
              <a:spcAft>
                <a:spcPts val="1200"/>
              </a:spcAft>
              <a:buFont typeface="Arial" panose="020B0604020202020204" pitchFamily="34" charset="0"/>
              <a:buChar char="•"/>
            </a:pPr>
            <a:r>
              <a:rPr lang="de-DE" sz="1800" dirty="0"/>
              <a:t>=&gt; </a:t>
            </a:r>
            <a:r>
              <a:rPr lang="de-DE" sz="1800" dirty="0" err="1"/>
              <a:t>joint</a:t>
            </a:r>
            <a:r>
              <a:rPr lang="de-DE" sz="1800" dirty="0"/>
              <a:t> </a:t>
            </a:r>
            <a:r>
              <a:rPr lang="de-DE" sz="1800" dirty="0" err="1"/>
              <a:t>optimization</a:t>
            </a:r>
            <a:r>
              <a:rPr lang="de-DE" sz="1800" dirty="0"/>
              <a:t> </a:t>
            </a:r>
            <a:r>
              <a:rPr lang="de-DE" sz="1800" dirty="0" err="1"/>
              <a:t>of</a:t>
            </a:r>
            <a:r>
              <a:rPr lang="de-DE" sz="1800" dirty="0"/>
              <a:t> </a:t>
            </a:r>
            <a:r>
              <a:rPr lang="de-DE" sz="1800" dirty="0" err="1"/>
              <a:t>physical</a:t>
            </a:r>
            <a:r>
              <a:rPr lang="de-DE" sz="1800" dirty="0"/>
              <a:t> </a:t>
            </a:r>
            <a:r>
              <a:rPr lang="de-DE" sz="1800" dirty="0" err="1"/>
              <a:t>optical</a:t>
            </a:r>
            <a:r>
              <a:rPr lang="de-DE" sz="1800" dirty="0"/>
              <a:t> </a:t>
            </a:r>
            <a:r>
              <a:rPr lang="de-DE" sz="1800" dirty="0" err="1"/>
              <a:t>system</a:t>
            </a:r>
            <a:r>
              <a:rPr lang="de-DE" sz="1800" dirty="0"/>
              <a:t> (DOE) +  </a:t>
            </a:r>
            <a:r>
              <a:rPr lang="de-DE" sz="1800" dirty="0" err="1"/>
              <a:t>object</a:t>
            </a:r>
            <a:r>
              <a:rPr lang="de-DE" sz="1800" dirty="0"/>
              <a:t> </a:t>
            </a:r>
            <a:r>
              <a:rPr lang="de-DE" sz="1800" dirty="0" err="1"/>
              <a:t>detection</a:t>
            </a:r>
            <a:r>
              <a:rPr lang="de-DE" sz="1800" dirty="0"/>
              <a:t> </a:t>
            </a:r>
            <a:r>
              <a:rPr lang="de-DE" sz="1800" dirty="0" err="1"/>
              <a:t>model</a:t>
            </a:r>
            <a:r>
              <a:rPr lang="de-DE" sz="1800" dirty="0"/>
              <a:t> </a:t>
            </a:r>
            <a:r>
              <a:rPr lang="de-DE" sz="1800" dirty="0" err="1"/>
              <a:t>using</a:t>
            </a:r>
            <a:r>
              <a:rPr lang="de-DE" sz="1800" dirty="0"/>
              <a:t> </a:t>
            </a:r>
            <a:r>
              <a:rPr lang="de-DE" sz="1800" dirty="0" err="1"/>
              <a:t>pado</a:t>
            </a:r>
            <a:endParaRPr lang="de-DE" sz="1800" dirty="0"/>
          </a:p>
        </p:txBody>
      </p:sp>
      <p:sp>
        <p:nvSpPr>
          <p:cNvPr id="3" name="Textfeld 2">
            <a:extLst>
              <a:ext uri="{FF2B5EF4-FFF2-40B4-BE49-F238E27FC236}">
                <a16:creationId xmlns:a16="http://schemas.microsoft.com/office/drawing/2014/main" id="{AE88BF10-704A-2E3D-74CB-FD03251DE613}"/>
              </a:ext>
            </a:extLst>
          </p:cNvPr>
          <p:cNvSpPr txBox="1"/>
          <p:nvPr/>
        </p:nvSpPr>
        <p:spPr>
          <a:xfrm>
            <a:off x="-2989" y="5948224"/>
            <a:ext cx="12194989" cy="938719"/>
          </a:xfrm>
          <a:prstGeom prst="rect">
            <a:avLst/>
          </a:prstGeom>
          <a:noFill/>
        </p:spPr>
        <p:txBody>
          <a:bodyPr wrap="square" rtlCol="0">
            <a:spAutoFit/>
          </a:bodyPr>
          <a:lstStyle/>
          <a:p>
            <a:r>
              <a:rPr lang="de-DE" sz="1100" dirty="0">
                <a:effectLst/>
              </a:rPr>
              <a:t>[1] P. B. S. </a:t>
            </a:r>
            <a:r>
              <a:rPr lang="de-DE" sz="1100" dirty="0" err="1">
                <a:effectLst/>
              </a:rPr>
              <a:t>Varma</a:t>
            </a:r>
            <a:r>
              <a:rPr lang="de-DE" sz="1100" dirty="0">
                <a:effectLst/>
              </a:rPr>
              <a:t>, P. </a:t>
            </a:r>
            <a:r>
              <a:rPr lang="de-DE" sz="1100" dirty="0" err="1">
                <a:effectLst/>
              </a:rPr>
              <a:t>Adimoolam</a:t>
            </a:r>
            <a:r>
              <a:rPr lang="de-DE" sz="1100" dirty="0">
                <a:effectLst/>
              </a:rPr>
              <a:t>, Y. L. </a:t>
            </a:r>
            <a:r>
              <a:rPr lang="de-DE" sz="1100" dirty="0" err="1">
                <a:effectLst/>
              </a:rPr>
              <a:t>Marna</a:t>
            </a:r>
            <a:r>
              <a:rPr lang="de-DE" sz="1100" dirty="0">
                <a:effectLst/>
              </a:rPr>
              <a:t>, A. </a:t>
            </a:r>
            <a:r>
              <a:rPr lang="de-DE" sz="1100" dirty="0" err="1">
                <a:effectLst/>
              </a:rPr>
              <a:t>Vengala</a:t>
            </a:r>
            <a:r>
              <a:rPr lang="de-DE" sz="1100" dirty="0">
                <a:effectLst/>
              </a:rPr>
              <a:t>, V. S. D. Sundar, and M. V. T. R. P. Kumar, ‘</a:t>
            </a:r>
            <a:r>
              <a:rPr lang="de-DE" sz="1100" dirty="0" err="1">
                <a:effectLst/>
              </a:rPr>
              <a:t>Enhancing</a:t>
            </a:r>
            <a:r>
              <a:rPr lang="de-DE" sz="1100" dirty="0">
                <a:effectLst/>
              </a:rPr>
              <a:t> robust </a:t>
            </a:r>
            <a:r>
              <a:rPr lang="de-DE" sz="1100" dirty="0" err="1">
                <a:effectLst/>
              </a:rPr>
              <a:t>object</a:t>
            </a:r>
            <a:r>
              <a:rPr lang="de-DE" sz="1100" dirty="0">
                <a:effectLst/>
              </a:rPr>
              <a:t> </a:t>
            </a:r>
            <a:r>
              <a:rPr lang="de-DE" sz="1100" dirty="0" err="1">
                <a:effectLst/>
              </a:rPr>
              <a:t>detection</a:t>
            </a:r>
            <a:r>
              <a:rPr lang="de-DE" sz="1100" dirty="0">
                <a:effectLst/>
              </a:rPr>
              <a:t> in </a:t>
            </a:r>
            <a:r>
              <a:rPr lang="de-DE" sz="1100" dirty="0" err="1">
                <a:effectLst/>
              </a:rPr>
              <a:t>weather-impacted</a:t>
            </a:r>
            <a:r>
              <a:rPr lang="de-DE" sz="1100" dirty="0">
                <a:effectLst/>
              </a:rPr>
              <a:t> </a:t>
            </a:r>
            <a:r>
              <a:rPr lang="de-DE" sz="1100" dirty="0" err="1">
                <a:effectLst/>
              </a:rPr>
              <a:t>environments</a:t>
            </a:r>
            <a:r>
              <a:rPr lang="de-DE" sz="1100" dirty="0">
                <a:effectLst/>
              </a:rPr>
              <a:t> </a:t>
            </a:r>
            <a:r>
              <a:rPr lang="de-DE" sz="1100" dirty="0" err="1">
                <a:effectLst/>
              </a:rPr>
              <a:t>using</a:t>
            </a:r>
            <a:r>
              <a:rPr lang="de-DE" sz="1100" dirty="0">
                <a:effectLst/>
              </a:rPr>
              <a:t> </a:t>
            </a:r>
            <a:r>
              <a:rPr lang="de-DE" sz="1100" dirty="0" err="1">
                <a:effectLst/>
              </a:rPr>
              <a:t>deep</a:t>
            </a:r>
            <a:r>
              <a:rPr lang="de-DE" sz="1100" dirty="0">
                <a:effectLst/>
              </a:rPr>
              <a:t> </a:t>
            </a:r>
            <a:r>
              <a:rPr lang="de-DE" sz="1100" dirty="0" err="1">
                <a:effectLst/>
              </a:rPr>
              <a:t>learning</a:t>
            </a:r>
            <a:r>
              <a:rPr lang="de-DE" sz="1100" dirty="0">
                <a:effectLst/>
              </a:rPr>
              <a:t> </a:t>
            </a:r>
            <a:r>
              <a:rPr lang="de-DE" sz="1100" dirty="0" err="1">
                <a:effectLst/>
              </a:rPr>
              <a:t>techniques</a:t>
            </a:r>
            <a:r>
              <a:rPr lang="de-DE" sz="1100" dirty="0">
                <a:effectLst/>
              </a:rPr>
              <a:t>’, </a:t>
            </a:r>
            <a:r>
              <a:rPr lang="de-DE" sz="1100" i="1" dirty="0">
                <a:effectLst/>
              </a:rPr>
              <a:t>2024 2nd International Conference on </a:t>
            </a:r>
            <a:r>
              <a:rPr lang="de-DE" sz="1100" i="1" dirty="0" err="1">
                <a:effectLst/>
              </a:rPr>
              <a:t>Self</a:t>
            </a:r>
            <a:r>
              <a:rPr lang="de-DE" sz="1100" i="1" dirty="0">
                <a:effectLst/>
              </a:rPr>
              <a:t> </a:t>
            </a:r>
            <a:r>
              <a:rPr lang="de-DE" sz="1100" i="1" dirty="0" err="1">
                <a:effectLst/>
              </a:rPr>
              <a:t>Sustainable</a:t>
            </a:r>
            <a:r>
              <a:rPr lang="de-DE" sz="1100" i="1" dirty="0">
                <a:effectLst/>
              </a:rPr>
              <a:t> </a:t>
            </a:r>
            <a:r>
              <a:rPr lang="de-DE" sz="1100" i="1" dirty="0" err="1">
                <a:effectLst/>
              </a:rPr>
              <a:t>Artificial</a:t>
            </a:r>
            <a:r>
              <a:rPr lang="de-DE" sz="1100" i="1" dirty="0">
                <a:effectLst/>
              </a:rPr>
              <a:t> </a:t>
            </a:r>
            <a:r>
              <a:rPr lang="de-DE" sz="1100" i="1" dirty="0" err="1">
                <a:effectLst/>
              </a:rPr>
              <a:t>Intelligence</a:t>
            </a:r>
            <a:r>
              <a:rPr lang="de-DE" sz="1100" i="1" dirty="0">
                <a:effectLst/>
              </a:rPr>
              <a:t> Systems (ICSSAS)</a:t>
            </a:r>
            <a:r>
              <a:rPr lang="de-DE" sz="1100" dirty="0">
                <a:effectLst/>
              </a:rPr>
              <a:t>, pp. 599–604, 2024.</a:t>
            </a:r>
          </a:p>
          <a:p>
            <a:r>
              <a:rPr lang="de-DE" sz="1100" dirty="0"/>
              <a:t>[2] W. Liu, G. Ren, R. </a:t>
            </a:r>
            <a:r>
              <a:rPr lang="de-DE" sz="1100" dirty="0" err="1"/>
              <a:t>Yu</a:t>
            </a:r>
            <a:r>
              <a:rPr lang="de-DE" sz="1100" dirty="0"/>
              <a:t>, S. Guo, J. Zhu, and L. Zhang, “Image-Adaptive YOLO </a:t>
            </a:r>
            <a:r>
              <a:rPr lang="de-DE" sz="1100" dirty="0" err="1"/>
              <a:t>for</a:t>
            </a:r>
            <a:r>
              <a:rPr lang="de-DE" sz="1100" dirty="0"/>
              <a:t> </a:t>
            </a:r>
            <a:r>
              <a:rPr lang="de-DE" sz="1100" dirty="0" err="1"/>
              <a:t>Object</a:t>
            </a:r>
            <a:r>
              <a:rPr lang="de-DE" sz="1100" dirty="0"/>
              <a:t> </a:t>
            </a:r>
            <a:r>
              <a:rPr lang="de-DE" sz="1100" dirty="0" err="1"/>
              <a:t>Detection</a:t>
            </a:r>
            <a:r>
              <a:rPr lang="de-DE" sz="1100" dirty="0"/>
              <a:t> in Adverse </a:t>
            </a:r>
            <a:r>
              <a:rPr lang="de-DE" sz="1100" dirty="0" err="1"/>
              <a:t>Weather</a:t>
            </a:r>
            <a:r>
              <a:rPr lang="de-DE" sz="1100" dirty="0"/>
              <a:t> </a:t>
            </a:r>
            <a:r>
              <a:rPr lang="de-DE" sz="1100" dirty="0" err="1"/>
              <a:t>Conditions</a:t>
            </a:r>
            <a:r>
              <a:rPr lang="de-DE" sz="1100" dirty="0"/>
              <a:t>”, </a:t>
            </a:r>
            <a:r>
              <a:rPr lang="de-DE" sz="1100" i="1" dirty="0"/>
              <a:t>AAAI</a:t>
            </a:r>
            <a:r>
              <a:rPr lang="de-DE" sz="1100" dirty="0"/>
              <a:t>, vol. 36, </a:t>
            </a:r>
            <a:r>
              <a:rPr lang="de-DE" sz="1100" dirty="0" err="1"/>
              <a:t>no</a:t>
            </a:r>
            <a:r>
              <a:rPr lang="de-DE" sz="1100" dirty="0"/>
              <a:t>. 2, pp. 1792-1800, Jun. 2022.</a:t>
            </a:r>
          </a:p>
          <a:p>
            <a:r>
              <a:rPr lang="de-DE" sz="1100" dirty="0">
                <a:effectLst/>
              </a:rPr>
              <a:t>[3] </a:t>
            </a:r>
            <a:r>
              <a:rPr lang="en-GB" sz="1100" dirty="0"/>
              <a:t>L. Chen, X. Yuan and B. Yang, "Object detection and recognition in foggy environment based on improved YOLOv11," 2025 6th International Conference on Electronic Communication and Artificial Intelligence (ICECAI), Chengdu, China, 2025, pp. 368-372, </a:t>
            </a:r>
            <a:r>
              <a:rPr lang="en-GB" sz="1100" dirty="0" err="1"/>
              <a:t>doi</a:t>
            </a:r>
            <a:r>
              <a:rPr lang="en-GB" sz="1100" dirty="0"/>
              <a:t>: 10.1109/ICECAI66283.2025.11170606.</a:t>
            </a:r>
          </a:p>
        </p:txBody>
      </p:sp>
      <p:grpSp>
        <p:nvGrpSpPr>
          <p:cNvPr id="11" name="Gruppieren 10">
            <a:extLst>
              <a:ext uri="{FF2B5EF4-FFF2-40B4-BE49-F238E27FC236}">
                <a16:creationId xmlns:a16="http://schemas.microsoft.com/office/drawing/2014/main" id="{293298E4-6C39-BB30-9CB7-1D05A4CAEA2E}"/>
              </a:ext>
            </a:extLst>
          </p:cNvPr>
          <p:cNvGrpSpPr/>
          <p:nvPr/>
        </p:nvGrpSpPr>
        <p:grpSpPr>
          <a:xfrm>
            <a:off x="6781689" y="885044"/>
            <a:ext cx="5225221" cy="4789438"/>
            <a:chOff x="5212231" y="811556"/>
            <a:chExt cx="7182059" cy="6583077"/>
          </a:xfrm>
        </p:grpSpPr>
        <p:pic>
          <p:nvPicPr>
            <p:cNvPr id="4" name="Inhaltsplatzhalter 3">
              <a:extLst>
                <a:ext uri="{FF2B5EF4-FFF2-40B4-BE49-F238E27FC236}">
                  <a16:creationId xmlns:a16="http://schemas.microsoft.com/office/drawing/2014/main" id="{5BC2BCFF-9FBD-F36D-74F3-205E5470DF50}"/>
                </a:ext>
              </a:extLst>
            </p:cNvPr>
            <p:cNvPicPr>
              <a:picLocks noChangeAspect="1"/>
            </p:cNvPicPr>
            <p:nvPr/>
          </p:nvPicPr>
          <p:blipFill>
            <a:blip r:embed="rId2"/>
            <a:stretch>
              <a:fillRect/>
            </a:stretch>
          </p:blipFill>
          <p:spPr>
            <a:xfrm>
              <a:off x="5326740" y="1097266"/>
              <a:ext cx="7067550" cy="4389139"/>
            </a:xfrm>
            <a:prstGeom prst="rect">
              <a:avLst/>
            </a:prstGeom>
          </p:spPr>
        </p:pic>
        <p:sp>
          <p:nvSpPr>
            <p:cNvPr id="5" name="Rechteck 4">
              <a:extLst>
                <a:ext uri="{FF2B5EF4-FFF2-40B4-BE49-F238E27FC236}">
                  <a16:creationId xmlns:a16="http://schemas.microsoft.com/office/drawing/2014/main" id="{E2683E6C-9636-A364-CF20-506DF675BB5D}"/>
                </a:ext>
              </a:extLst>
            </p:cNvPr>
            <p:cNvSpPr/>
            <p:nvPr/>
          </p:nvSpPr>
          <p:spPr>
            <a:xfrm>
              <a:off x="5916020" y="3520436"/>
              <a:ext cx="1257300" cy="48006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feld 6">
              <a:extLst>
                <a:ext uri="{FF2B5EF4-FFF2-40B4-BE49-F238E27FC236}">
                  <a16:creationId xmlns:a16="http://schemas.microsoft.com/office/drawing/2014/main" id="{0024580C-8660-62BE-50F4-F3E07EC9A187}"/>
                </a:ext>
              </a:extLst>
            </p:cNvPr>
            <p:cNvSpPr txBox="1"/>
            <p:nvPr/>
          </p:nvSpPr>
          <p:spPr>
            <a:xfrm>
              <a:off x="5441219" y="3506624"/>
              <a:ext cx="2206902" cy="634558"/>
            </a:xfrm>
            <a:prstGeom prst="rect">
              <a:avLst/>
            </a:prstGeom>
            <a:noFill/>
          </p:spPr>
          <p:txBody>
            <a:bodyPr wrap="square" rtlCol="0">
              <a:spAutoFit/>
            </a:bodyPr>
            <a:lstStyle/>
            <a:p>
              <a:pPr algn="ctr"/>
              <a:r>
                <a:rPr lang="en-GB" sz="1200" dirty="0"/>
                <a:t>Illumination Adaptive Transformer</a:t>
              </a:r>
            </a:p>
          </p:txBody>
        </p:sp>
        <p:sp>
          <p:nvSpPr>
            <p:cNvPr id="8" name="Textfeld 7">
              <a:extLst>
                <a:ext uri="{FF2B5EF4-FFF2-40B4-BE49-F238E27FC236}">
                  <a16:creationId xmlns:a16="http://schemas.microsoft.com/office/drawing/2014/main" id="{5C2D5765-ED16-48C2-B36D-2B45307D08DD}"/>
                </a:ext>
              </a:extLst>
            </p:cNvPr>
            <p:cNvSpPr txBox="1"/>
            <p:nvPr/>
          </p:nvSpPr>
          <p:spPr>
            <a:xfrm>
              <a:off x="5609027" y="4605785"/>
              <a:ext cx="4078187" cy="803773"/>
            </a:xfrm>
            <a:prstGeom prst="rect">
              <a:avLst/>
            </a:prstGeom>
            <a:noFill/>
          </p:spPr>
          <p:txBody>
            <a:bodyPr wrap="square" rtlCol="0">
              <a:spAutoFit/>
            </a:bodyPr>
            <a:lstStyle/>
            <a:p>
              <a:r>
                <a:rPr lang="en-GB" sz="1600" dirty="0"/>
                <a:t>emulates image signal processor</a:t>
              </a:r>
              <a:br>
                <a:rPr lang="en-GB" sz="1600" dirty="0"/>
              </a:br>
              <a:r>
                <a:rPr lang="en-GB" sz="1600" dirty="0"/>
                <a:t>to resolve image quality issues</a:t>
              </a:r>
            </a:p>
          </p:txBody>
        </p:sp>
        <mc:AlternateContent xmlns:mc="http://schemas.openxmlformats.org/markup-compatibility/2006">
          <mc:Choice xmlns:p14="http://schemas.microsoft.com/office/powerpoint/2010/main" Requires="p14">
            <p:contentPart p14:bwMode="auto" r:id="rId3">
              <p14:nvContentPartPr>
                <p14:cNvPr id="9" name="Freihand 8">
                  <a:extLst>
                    <a:ext uri="{FF2B5EF4-FFF2-40B4-BE49-F238E27FC236}">
                      <a16:creationId xmlns:a16="http://schemas.microsoft.com/office/drawing/2014/main" id="{5F4EB6BC-37E9-33B6-756E-A4E6BCAB52B5}"/>
                    </a:ext>
                  </a:extLst>
                </p14:cNvPr>
                <p14:cNvContentPartPr/>
                <p14:nvPr/>
              </p14:nvContentPartPr>
              <p14:xfrm>
                <a:off x="6411649" y="4176915"/>
                <a:ext cx="266040" cy="483840"/>
              </p14:xfrm>
            </p:contentPart>
          </mc:Choice>
          <mc:Fallback>
            <p:pic>
              <p:nvPicPr>
                <p:cNvPr id="9" name="Freihand 8">
                  <a:extLst>
                    <a:ext uri="{FF2B5EF4-FFF2-40B4-BE49-F238E27FC236}">
                      <a16:creationId xmlns:a16="http://schemas.microsoft.com/office/drawing/2014/main" id="{5F4EB6BC-37E9-33B6-756E-A4E6BCAB52B5}"/>
                    </a:ext>
                  </a:extLst>
                </p:cNvPr>
                <p:cNvPicPr/>
                <p:nvPr/>
              </p:nvPicPr>
              <p:blipFill>
                <a:blip r:embed="rId4"/>
                <a:stretch>
                  <a:fillRect/>
                </a:stretch>
              </p:blipFill>
              <p:spPr>
                <a:xfrm>
                  <a:off x="6399781" y="4164547"/>
                  <a:ext cx="290270" cy="508081"/>
                </a:xfrm>
                <a:prstGeom prst="rect">
                  <a:avLst/>
                </a:prstGeom>
              </p:spPr>
            </p:pic>
          </mc:Fallback>
        </mc:AlternateContent>
        <p:sp>
          <p:nvSpPr>
            <p:cNvPr id="10" name="Abgerundetes Rechteck 9">
              <a:extLst>
                <a:ext uri="{FF2B5EF4-FFF2-40B4-BE49-F238E27FC236}">
                  <a16:creationId xmlns:a16="http://schemas.microsoft.com/office/drawing/2014/main" id="{C7A3414B-71C3-939D-6F7E-6F96994F6D81}"/>
                </a:ext>
              </a:extLst>
            </p:cNvPr>
            <p:cNvSpPr/>
            <p:nvPr/>
          </p:nvSpPr>
          <p:spPr>
            <a:xfrm>
              <a:off x="5212231" y="811556"/>
              <a:ext cx="7182058" cy="6583077"/>
            </a:xfrm>
            <a:prstGeom prst="roundRect">
              <a:avLst/>
            </a:prstGeom>
            <a:noFill/>
            <a:ln w="381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12" name="Gruppieren 11">
            <a:extLst>
              <a:ext uri="{FF2B5EF4-FFF2-40B4-BE49-F238E27FC236}">
                <a16:creationId xmlns:a16="http://schemas.microsoft.com/office/drawing/2014/main" id="{61A7085E-1B92-DB0F-F64C-7AEDBDE21B05}"/>
              </a:ext>
            </a:extLst>
          </p:cNvPr>
          <p:cNvGrpSpPr/>
          <p:nvPr/>
        </p:nvGrpSpPr>
        <p:grpSpPr>
          <a:xfrm>
            <a:off x="7293722" y="4509578"/>
            <a:ext cx="4266763" cy="751913"/>
            <a:chOff x="7417018" y="149740"/>
            <a:chExt cx="4266763" cy="751913"/>
          </a:xfrm>
        </p:grpSpPr>
        <p:pic>
          <p:nvPicPr>
            <p:cNvPr id="13" name="Grafik 12">
              <a:extLst>
                <a:ext uri="{FF2B5EF4-FFF2-40B4-BE49-F238E27FC236}">
                  <a16:creationId xmlns:a16="http://schemas.microsoft.com/office/drawing/2014/main" id="{ADB1C8C6-1ED6-7AE6-7705-35CD0822D52F}"/>
                </a:ext>
              </a:extLst>
            </p:cNvPr>
            <p:cNvPicPr>
              <a:picLocks noChangeAspect="1"/>
            </p:cNvPicPr>
            <p:nvPr/>
          </p:nvPicPr>
          <p:blipFill rotWithShape="1">
            <a:blip r:embed="rId5"/>
            <a:srcRect t="13253" r="45104" b="69361"/>
            <a:stretch/>
          </p:blipFill>
          <p:spPr>
            <a:xfrm>
              <a:off x="7417018" y="149740"/>
              <a:ext cx="4266763" cy="274648"/>
            </a:xfrm>
            <a:prstGeom prst="rect">
              <a:avLst/>
            </a:prstGeom>
          </p:spPr>
        </p:pic>
        <p:pic>
          <p:nvPicPr>
            <p:cNvPr id="14" name="Grafik 13">
              <a:extLst>
                <a:ext uri="{FF2B5EF4-FFF2-40B4-BE49-F238E27FC236}">
                  <a16:creationId xmlns:a16="http://schemas.microsoft.com/office/drawing/2014/main" id="{82B33365-4048-8FED-5A16-7D65AC44BC4C}"/>
                </a:ext>
              </a:extLst>
            </p:cNvPr>
            <p:cNvPicPr>
              <a:picLocks noChangeAspect="1"/>
            </p:cNvPicPr>
            <p:nvPr/>
          </p:nvPicPr>
          <p:blipFill rotWithShape="1">
            <a:blip r:embed="rId5"/>
            <a:srcRect t="66879" r="45104" b="2908"/>
            <a:stretch/>
          </p:blipFill>
          <p:spPr>
            <a:xfrm>
              <a:off x="7417018" y="424388"/>
              <a:ext cx="4266763" cy="477265"/>
            </a:xfrm>
            <a:prstGeom prst="rect">
              <a:avLst/>
            </a:prstGeom>
          </p:spPr>
        </p:pic>
      </p:grpSp>
      <p:sp>
        <p:nvSpPr>
          <p:cNvPr id="15" name="Textfeld 14">
            <a:extLst>
              <a:ext uri="{FF2B5EF4-FFF2-40B4-BE49-F238E27FC236}">
                <a16:creationId xmlns:a16="http://schemas.microsoft.com/office/drawing/2014/main" id="{EB8C452C-FD1E-A3CC-737A-9E4723789191}"/>
              </a:ext>
            </a:extLst>
          </p:cNvPr>
          <p:cNvSpPr txBox="1"/>
          <p:nvPr/>
        </p:nvSpPr>
        <p:spPr>
          <a:xfrm>
            <a:off x="7669395" y="5297998"/>
            <a:ext cx="3362395" cy="369332"/>
          </a:xfrm>
          <a:prstGeom prst="rect">
            <a:avLst/>
          </a:prstGeom>
          <a:noFill/>
        </p:spPr>
        <p:txBody>
          <a:bodyPr wrap="none" rtlCol="0">
            <a:spAutoFit/>
          </a:bodyPr>
          <a:lstStyle/>
          <a:p>
            <a:r>
              <a:rPr lang="en-GB" dirty="0"/>
              <a:t>=&gt; accuracy improvement of </a:t>
            </a:r>
            <a:r>
              <a:rPr lang="en-GB" b="1" dirty="0"/>
              <a:t>2.9%</a:t>
            </a:r>
          </a:p>
        </p:txBody>
      </p:sp>
      <p:sp>
        <p:nvSpPr>
          <p:cNvPr id="16" name="Textfeld 15">
            <a:extLst>
              <a:ext uri="{FF2B5EF4-FFF2-40B4-BE49-F238E27FC236}">
                <a16:creationId xmlns:a16="http://schemas.microsoft.com/office/drawing/2014/main" id="{36DCEBE1-0322-449D-BD05-8564AAF216C7}"/>
              </a:ext>
            </a:extLst>
          </p:cNvPr>
          <p:cNvSpPr txBox="1"/>
          <p:nvPr/>
        </p:nvSpPr>
        <p:spPr>
          <a:xfrm>
            <a:off x="9647890" y="1056401"/>
            <a:ext cx="2100255" cy="369332"/>
          </a:xfrm>
          <a:prstGeom prst="rect">
            <a:avLst/>
          </a:prstGeom>
          <a:noFill/>
        </p:spPr>
        <p:txBody>
          <a:bodyPr wrap="none" rtlCol="0">
            <a:spAutoFit/>
          </a:bodyPr>
          <a:lstStyle/>
          <a:p>
            <a:r>
              <a:rPr lang="en-GB" b="1" dirty="0"/>
              <a:t>Chen et al., 2025 [3]</a:t>
            </a:r>
            <a:endParaRPr lang="en-GB" dirty="0"/>
          </a:p>
        </p:txBody>
      </p:sp>
    </p:spTree>
    <p:extLst>
      <p:ext uri="{BB962C8B-B14F-4D97-AF65-F5344CB8AC3E}">
        <p14:creationId xmlns:p14="http://schemas.microsoft.com/office/powerpoint/2010/main" val="4062735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D4B6CD-A168-5C50-AD9E-3CD36785B461}"/>
              </a:ext>
            </a:extLst>
          </p:cNvPr>
          <p:cNvSpPr>
            <a:spLocks noGrp="1"/>
          </p:cNvSpPr>
          <p:nvPr>
            <p:ph type="title"/>
          </p:nvPr>
        </p:nvSpPr>
        <p:spPr/>
        <p:txBody>
          <a:bodyPr/>
          <a:lstStyle/>
          <a:p>
            <a:r>
              <a:rPr lang="en-GB" dirty="0"/>
              <a:t>Methods</a:t>
            </a:r>
          </a:p>
        </p:txBody>
      </p:sp>
      <p:sp>
        <p:nvSpPr>
          <p:cNvPr id="6" name="Inhaltsplatzhalter 5">
            <a:extLst>
              <a:ext uri="{FF2B5EF4-FFF2-40B4-BE49-F238E27FC236}">
                <a16:creationId xmlns:a16="http://schemas.microsoft.com/office/drawing/2014/main" id="{02352379-A633-2791-F9F5-759E438C18D0}"/>
              </a:ext>
            </a:extLst>
          </p:cNvPr>
          <p:cNvSpPr>
            <a:spLocks noGrp="1"/>
          </p:cNvSpPr>
          <p:nvPr>
            <p:ph idx="1"/>
          </p:nvPr>
        </p:nvSpPr>
        <p:spPr/>
        <p:txBody>
          <a:bodyPr/>
          <a:lstStyle/>
          <a:p>
            <a:endParaRPr lang="en-GB"/>
          </a:p>
        </p:txBody>
      </p:sp>
      <p:pic>
        <p:nvPicPr>
          <p:cNvPr id="7" name="Grafik 6">
            <a:extLst>
              <a:ext uri="{FF2B5EF4-FFF2-40B4-BE49-F238E27FC236}">
                <a16:creationId xmlns:a16="http://schemas.microsoft.com/office/drawing/2014/main" id="{2274280C-06AE-E70F-3620-117678C3029F}"/>
              </a:ext>
            </a:extLst>
          </p:cNvPr>
          <p:cNvPicPr>
            <a:picLocks noChangeAspect="1"/>
          </p:cNvPicPr>
          <p:nvPr/>
        </p:nvPicPr>
        <p:blipFill>
          <a:blip r:embed="rId2"/>
          <a:stretch>
            <a:fillRect/>
          </a:stretch>
        </p:blipFill>
        <p:spPr>
          <a:xfrm>
            <a:off x="2209800" y="1656936"/>
            <a:ext cx="7772400" cy="2208998"/>
          </a:xfrm>
          <a:prstGeom prst="rect">
            <a:avLst/>
          </a:prstGeom>
        </p:spPr>
      </p:pic>
      <p:pic>
        <p:nvPicPr>
          <p:cNvPr id="8" name="Grafik 7">
            <a:extLst>
              <a:ext uri="{FF2B5EF4-FFF2-40B4-BE49-F238E27FC236}">
                <a16:creationId xmlns:a16="http://schemas.microsoft.com/office/drawing/2014/main" id="{3194FF7D-4F78-3EED-3783-49DA639F969D}"/>
              </a:ext>
            </a:extLst>
          </p:cNvPr>
          <p:cNvPicPr>
            <a:picLocks noChangeAspect="1"/>
          </p:cNvPicPr>
          <p:nvPr/>
        </p:nvPicPr>
        <p:blipFill>
          <a:blip r:embed="rId3"/>
          <a:stretch>
            <a:fillRect/>
          </a:stretch>
        </p:blipFill>
        <p:spPr>
          <a:xfrm>
            <a:off x="2209800" y="3697244"/>
            <a:ext cx="7772400" cy="2172134"/>
          </a:xfrm>
          <a:prstGeom prst="rect">
            <a:avLst/>
          </a:prstGeom>
        </p:spPr>
      </p:pic>
    </p:spTree>
    <p:extLst>
      <p:ext uri="{BB962C8B-B14F-4D97-AF65-F5344CB8AC3E}">
        <p14:creationId xmlns:p14="http://schemas.microsoft.com/office/powerpoint/2010/main" val="4952132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D4B6CD-A168-5C50-AD9E-3CD36785B461}"/>
              </a:ext>
            </a:extLst>
          </p:cNvPr>
          <p:cNvSpPr>
            <a:spLocks noGrp="1"/>
          </p:cNvSpPr>
          <p:nvPr>
            <p:ph type="title"/>
          </p:nvPr>
        </p:nvSpPr>
        <p:spPr>
          <a:xfrm>
            <a:off x="207333" y="-131558"/>
            <a:ext cx="10515600" cy="1325563"/>
          </a:xfrm>
        </p:spPr>
        <p:txBody>
          <a:bodyPr/>
          <a:lstStyle/>
          <a:p>
            <a:r>
              <a:rPr lang="en-GB" b="1" dirty="0"/>
              <a:t>Methods</a:t>
            </a:r>
          </a:p>
        </p:txBody>
      </p:sp>
      <p:sp>
        <p:nvSpPr>
          <p:cNvPr id="8" name="Abgerundetes Rechteck 7">
            <a:extLst>
              <a:ext uri="{FF2B5EF4-FFF2-40B4-BE49-F238E27FC236}">
                <a16:creationId xmlns:a16="http://schemas.microsoft.com/office/drawing/2014/main" id="{629B07C8-B35F-CBA1-30B1-1F22E7C92934}"/>
              </a:ext>
            </a:extLst>
          </p:cNvPr>
          <p:cNvSpPr/>
          <p:nvPr/>
        </p:nvSpPr>
        <p:spPr>
          <a:xfrm>
            <a:off x="6456872" y="4674788"/>
            <a:ext cx="1358537" cy="7707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YOLOv11</a:t>
            </a:r>
          </a:p>
          <a:p>
            <a:pPr algn="ctr"/>
            <a:r>
              <a:rPr lang="en-GB" dirty="0"/>
              <a:t>(</a:t>
            </a:r>
            <a:r>
              <a:rPr lang="en-GB" dirty="0" err="1"/>
              <a:t>Ultralytics</a:t>
            </a:r>
            <a:r>
              <a:rPr lang="en-GB" dirty="0"/>
              <a:t>)</a:t>
            </a:r>
          </a:p>
        </p:txBody>
      </p:sp>
      <mc:AlternateContent xmlns:mc="http://schemas.openxmlformats.org/markup-compatibility/2006">
        <mc:Choice xmlns:a14="http://schemas.microsoft.com/office/drawing/2010/main" Requires="a14">
          <p:sp>
            <p:nvSpPr>
              <p:cNvPr id="10" name="Textfeld 9">
                <a:extLst>
                  <a:ext uri="{FF2B5EF4-FFF2-40B4-BE49-F238E27FC236}">
                    <a16:creationId xmlns:a16="http://schemas.microsoft.com/office/drawing/2014/main" id="{51DBF89C-E908-8582-EE3A-B6ED50AEB851}"/>
                  </a:ext>
                </a:extLst>
              </p:cNvPr>
              <p:cNvSpPr txBox="1"/>
              <p:nvPr/>
            </p:nvSpPr>
            <p:spPr>
              <a:xfrm>
                <a:off x="10645158" y="4729968"/>
                <a:ext cx="74656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ℒ</m:t>
                      </m:r>
                    </m:oMath>
                  </m:oMathPara>
                </a14:m>
                <a:endParaRPr lang="en-GB" sz="3600" dirty="0"/>
              </a:p>
            </p:txBody>
          </p:sp>
        </mc:Choice>
        <mc:Fallback>
          <p:sp>
            <p:nvSpPr>
              <p:cNvPr id="10" name="Textfeld 9">
                <a:extLst>
                  <a:ext uri="{FF2B5EF4-FFF2-40B4-BE49-F238E27FC236}">
                    <a16:creationId xmlns:a16="http://schemas.microsoft.com/office/drawing/2014/main" id="{51DBF89C-E908-8582-EE3A-B6ED50AEB851}"/>
                  </a:ext>
                </a:extLst>
              </p:cNvPr>
              <p:cNvSpPr txBox="1">
                <a:spLocks noRot="1" noChangeAspect="1" noMove="1" noResize="1" noEditPoints="1" noAdjustHandles="1" noChangeArrowheads="1" noChangeShapeType="1" noTextEdit="1"/>
              </p:cNvSpPr>
              <p:nvPr/>
            </p:nvSpPr>
            <p:spPr>
              <a:xfrm>
                <a:off x="10645158" y="4729968"/>
                <a:ext cx="746567" cy="553998"/>
              </a:xfrm>
              <a:prstGeom prst="rect">
                <a:avLst/>
              </a:prstGeom>
              <a:blipFill>
                <a:blip r:embed="rId3"/>
                <a:stretch>
                  <a:fillRect b="-4444"/>
                </a:stretch>
              </a:blipFill>
            </p:spPr>
            <p:txBody>
              <a:bodyPr/>
              <a:lstStyle/>
              <a:p>
                <a:r>
                  <a:rPr lang="en-GB">
                    <a:noFill/>
                  </a:rPr>
                  <a:t> </a:t>
                </a:r>
              </a:p>
            </p:txBody>
          </p:sp>
        </mc:Fallback>
      </mc:AlternateContent>
      <p:pic>
        <p:nvPicPr>
          <p:cNvPr id="13" name="Grafik 12">
            <a:extLst>
              <a:ext uri="{FF2B5EF4-FFF2-40B4-BE49-F238E27FC236}">
                <a16:creationId xmlns:a16="http://schemas.microsoft.com/office/drawing/2014/main" id="{5E439152-F239-B9D7-149A-0C25B4C54FE0}"/>
              </a:ext>
            </a:extLst>
          </p:cNvPr>
          <p:cNvPicPr>
            <a:picLocks noChangeAspect="1"/>
          </p:cNvPicPr>
          <p:nvPr/>
        </p:nvPicPr>
        <p:blipFill>
          <a:blip r:embed="rId4"/>
          <a:stretch>
            <a:fillRect/>
          </a:stretch>
        </p:blipFill>
        <p:spPr>
          <a:xfrm>
            <a:off x="5384145" y="4627921"/>
            <a:ext cx="208140" cy="858579"/>
          </a:xfrm>
          <a:prstGeom prst="rect">
            <a:avLst/>
          </a:prstGeom>
        </p:spPr>
      </p:pic>
      <p:sp>
        <p:nvSpPr>
          <p:cNvPr id="14" name="Textfeld 13">
            <a:extLst>
              <a:ext uri="{FF2B5EF4-FFF2-40B4-BE49-F238E27FC236}">
                <a16:creationId xmlns:a16="http://schemas.microsoft.com/office/drawing/2014/main" id="{71CD9407-E5DF-B41C-3F3F-D15274389A24}"/>
              </a:ext>
            </a:extLst>
          </p:cNvPr>
          <p:cNvSpPr txBox="1"/>
          <p:nvPr/>
        </p:nvSpPr>
        <p:spPr>
          <a:xfrm>
            <a:off x="5192300" y="5466401"/>
            <a:ext cx="591829" cy="369332"/>
          </a:xfrm>
          <a:prstGeom prst="rect">
            <a:avLst/>
          </a:prstGeom>
          <a:noFill/>
        </p:spPr>
        <p:txBody>
          <a:bodyPr wrap="none" rtlCol="0">
            <a:spAutoFit/>
          </a:bodyPr>
          <a:lstStyle/>
          <a:p>
            <a:r>
              <a:rPr lang="en-GB" dirty="0"/>
              <a:t>DOE</a:t>
            </a:r>
          </a:p>
        </p:txBody>
      </p:sp>
      <p:cxnSp>
        <p:nvCxnSpPr>
          <p:cNvPr id="16" name="Gerade Verbindung mit Pfeil 15">
            <a:extLst>
              <a:ext uri="{FF2B5EF4-FFF2-40B4-BE49-F238E27FC236}">
                <a16:creationId xmlns:a16="http://schemas.microsoft.com/office/drawing/2014/main" id="{0A05233B-C909-1B48-EA0A-364709E8EBF9}"/>
              </a:ext>
            </a:extLst>
          </p:cNvPr>
          <p:cNvCxnSpPr>
            <a:cxnSpLocks/>
          </p:cNvCxnSpPr>
          <p:nvPr/>
        </p:nvCxnSpPr>
        <p:spPr>
          <a:xfrm>
            <a:off x="5865561" y="494564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8FAB8DC-E884-B4E6-B528-565834E9F502}"/>
              </a:ext>
            </a:extLst>
          </p:cNvPr>
          <p:cNvCxnSpPr>
            <a:cxnSpLocks/>
          </p:cNvCxnSpPr>
          <p:nvPr/>
        </p:nvCxnSpPr>
        <p:spPr>
          <a:xfrm flipH="1">
            <a:off x="5865561" y="508906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E1E7A2AA-3F9C-7726-593C-717C0E138FBD}"/>
              </a:ext>
            </a:extLst>
          </p:cNvPr>
          <p:cNvCxnSpPr>
            <a:cxnSpLocks/>
          </p:cNvCxnSpPr>
          <p:nvPr/>
        </p:nvCxnSpPr>
        <p:spPr>
          <a:xfrm>
            <a:off x="7945372" y="494564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506B8BC7-DFB3-8EDF-C2F8-A4A155FE558C}"/>
              </a:ext>
            </a:extLst>
          </p:cNvPr>
          <p:cNvCxnSpPr>
            <a:cxnSpLocks/>
          </p:cNvCxnSpPr>
          <p:nvPr/>
        </p:nvCxnSpPr>
        <p:spPr>
          <a:xfrm flipH="1">
            <a:off x="7945372" y="508906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7" name="Grafik 26">
            <a:extLst>
              <a:ext uri="{FF2B5EF4-FFF2-40B4-BE49-F238E27FC236}">
                <a16:creationId xmlns:a16="http://schemas.microsoft.com/office/drawing/2014/main" id="{3D96529C-2C6F-3207-38E9-A5F7C113FD90}"/>
              </a:ext>
            </a:extLst>
          </p:cNvPr>
          <p:cNvPicPr>
            <a:picLocks noChangeAspect="1"/>
          </p:cNvPicPr>
          <p:nvPr/>
        </p:nvPicPr>
        <p:blipFill rotWithShape="1">
          <a:blip r:embed="rId5"/>
          <a:srcRect l="7964" t="3980" r="1224" b="8871"/>
          <a:stretch/>
        </p:blipFill>
        <p:spPr>
          <a:xfrm>
            <a:off x="8503466" y="4521526"/>
            <a:ext cx="1686976" cy="1108636"/>
          </a:xfrm>
          <a:prstGeom prst="rect">
            <a:avLst/>
          </a:prstGeom>
        </p:spPr>
      </p:pic>
      <p:sp>
        <p:nvSpPr>
          <p:cNvPr id="28" name="Textfeld 27">
            <a:extLst>
              <a:ext uri="{FF2B5EF4-FFF2-40B4-BE49-F238E27FC236}">
                <a16:creationId xmlns:a16="http://schemas.microsoft.com/office/drawing/2014/main" id="{0FE0B056-850C-2C0C-4E0B-F1D650AD96C2}"/>
              </a:ext>
            </a:extLst>
          </p:cNvPr>
          <p:cNvSpPr txBox="1"/>
          <p:nvPr/>
        </p:nvSpPr>
        <p:spPr>
          <a:xfrm>
            <a:off x="8776028" y="4190573"/>
            <a:ext cx="1102674" cy="369332"/>
          </a:xfrm>
          <a:prstGeom prst="rect">
            <a:avLst/>
          </a:prstGeom>
          <a:noFill/>
        </p:spPr>
        <p:txBody>
          <a:bodyPr wrap="none" rtlCol="0">
            <a:spAutoFit/>
          </a:bodyPr>
          <a:lstStyle/>
          <a:p>
            <a:r>
              <a:rPr lang="en-GB" dirty="0"/>
              <a:t>Detection</a:t>
            </a:r>
          </a:p>
        </p:txBody>
      </p:sp>
      <p:cxnSp>
        <p:nvCxnSpPr>
          <p:cNvPr id="29" name="Gerade Verbindung mit Pfeil 28">
            <a:extLst>
              <a:ext uri="{FF2B5EF4-FFF2-40B4-BE49-F238E27FC236}">
                <a16:creationId xmlns:a16="http://schemas.microsoft.com/office/drawing/2014/main" id="{D470A574-5B10-0EDE-2260-384A6C921B37}"/>
              </a:ext>
            </a:extLst>
          </p:cNvPr>
          <p:cNvCxnSpPr>
            <a:cxnSpLocks/>
          </p:cNvCxnSpPr>
          <p:nvPr/>
        </p:nvCxnSpPr>
        <p:spPr>
          <a:xfrm>
            <a:off x="10254857" y="4894637"/>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5D9D37F8-C4B6-47F4-E6D2-9FFC0866FB2A}"/>
              </a:ext>
            </a:extLst>
          </p:cNvPr>
          <p:cNvCxnSpPr>
            <a:cxnSpLocks/>
          </p:cNvCxnSpPr>
          <p:nvPr/>
        </p:nvCxnSpPr>
        <p:spPr>
          <a:xfrm flipH="1">
            <a:off x="10254857" y="5038062"/>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9486F0AA-E956-7CA3-20F7-9D6BC9E8DEC9}"/>
              </a:ext>
            </a:extLst>
          </p:cNvPr>
          <p:cNvSpPr txBox="1"/>
          <p:nvPr/>
        </p:nvSpPr>
        <p:spPr>
          <a:xfrm>
            <a:off x="10726534" y="4211029"/>
            <a:ext cx="583814" cy="369332"/>
          </a:xfrm>
          <a:prstGeom prst="rect">
            <a:avLst/>
          </a:prstGeom>
          <a:noFill/>
        </p:spPr>
        <p:txBody>
          <a:bodyPr wrap="none" rtlCol="0">
            <a:spAutoFit/>
          </a:bodyPr>
          <a:lstStyle/>
          <a:p>
            <a:r>
              <a:rPr lang="en-GB" dirty="0"/>
              <a:t>Loss</a:t>
            </a:r>
          </a:p>
        </p:txBody>
      </p:sp>
      <mc:AlternateContent xmlns:mc="http://schemas.openxmlformats.org/markup-compatibility/2006" xmlns:a14="http://schemas.microsoft.com/office/drawing/2010/main">
        <mc:Choice Requires="a14">
          <p:sp>
            <p:nvSpPr>
              <p:cNvPr id="32" name="Textfeld 31">
                <a:extLst>
                  <a:ext uri="{FF2B5EF4-FFF2-40B4-BE49-F238E27FC236}">
                    <a16:creationId xmlns:a16="http://schemas.microsoft.com/office/drawing/2014/main" id="{CAD93931-F379-E682-81F3-58CB32671CDA}"/>
                  </a:ext>
                </a:extLst>
              </p:cNvPr>
              <p:cNvSpPr txBox="1"/>
              <p:nvPr/>
            </p:nvSpPr>
            <p:spPr>
              <a:xfrm>
                <a:off x="4902032" y="4760593"/>
                <a:ext cx="32701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m:t>
                      </m:r>
                    </m:oMath>
                  </m:oMathPara>
                </a14:m>
                <a:endParaRPr lang="en-GB" sz="2800" dirty="0"/>
              </a:p>
            </p:txBody>
          </p:sp>
        </mc:Choice>
        <mc:Fallback xmlns="">
          <p:sp>
            <p:nvSpPr>
              <p:cNvPr id="32" name="Textfeld 31">
                <a:extLst>
                  <a:ext uri="{FF2B5EF4-FFF2-40B4-BE49-F238E27FC236}">
                    <a16:creationId xmlns:a16="http://schemas.microsoft.com/office/drawing/2014/main" id="{CAD93931-F379-E682-81F3-58CB32671CDA}"/>
                  </a:ext>
                </a:extLst>
              </p:cNvPr>
              <p:cNvSpPr txBox="1">
                <a:spLocks noRot="1" noChangeAspect="1" noMove="1" noResize="1" noEditPoints="1" noAdjustHandles="1" noChangeArrowheads="1" noChangeShapeType="1" noTextEdit="1"/>
              </p:cNvSpPr>
              <p:nvPr/>
            </p:nvSpPr>
            <p:spPr>
              <a:xfrm>
                <a:off x="4902032" y="4760593"/>
                <a:ext cx="327013" cy="553998"/>
              </a:xfrm>
              <a:prstGeom prst="rect">
                <a:avLst/>
              </a:prstGeom>
              <a:blipFill>
                <a:blip r:embed="rId10"/>
                <a:stretch>
                  <a:fillRect l="-14815" r="-18519"/>
                </a:stretch>
              </a:blipFill>
            </p:spPr>
            <p:txBody>
              <a:bodyPr/>
              <a:lstStyle/>
              <a:p>
                <a:r>
                  <a:rPr lang="en-GB">
                    <a:noFill/>
                  </a:rPr>
                  <a:t> </a:t>
                </a:r>
              </a:p>
            </p:txBody>
          </p:sp>
        </mc:Fallback>
      </mc:AlternateContent>
      <p:sp>
        <p:nvSpPr>
          <p:cNvPr id="33" name="Abgerundetes Rechteck 32">
            <a:extLst>
              <a:ext uri="{FF2B5EF4-FFF2-40B4-BE49-F238E27FC236}">
                <a16:creationId xmlns:a16="http://schemas.microsoft.com/office/drawing/2014/main" id="{17999D2D-9DBB-0673-E7DC-FF91847A4F44}"/>
              </a:ext>
            </a:extLst>
          </p:cNvPr>
          <p:cNvSpPr/>
          <p:nvPr/>
        </p:nvSpPr>
        <p:spPr>
          <a:xfrm>
            <a:off x="6002156" y="1973200"/>
            <a:ext cx="1358537" cy="7707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YOLOv11</a:t>
            </a:r>
          </a:p>
          <a:p>
            <a:pPr algn="ctr"/>
            <a:r>
              <a:rPr lang="en-GB" dirty="0"/>
              <a:t>(</a:t>
            </a:r>
            <a:r>
              <a:rPr lang="en-GB" dirty="0" err="1"/>
              <a:t>Ultralytics</a:t>
            </a:r>
            <a:r>
              <a:rPr lang="en-GB" dirty="0"/>
              <a:t>)</a:t>
            </a:r>
          </a:p>
        </p:txBody>
      </p:sp>
      <mc:AlternateContent xmlns:mc="http://schemas.openxmlformats.org/markup-compatibility/2006">
        <mc:Choice xmlns:a14="http://schemas.microsoft.com/office/drawing/2010/main" Requires="a14">
          <p:sp>
            <p:nvSpPr>
              <p:cNvPr id="34" name="Textfeld 33">
                <a:extLst>
                  <a:ext uri="{FF2B5EF4-FFF2-40B4-BE49-F238E27FC236}">
                    <a16:creationId xmlns:a16="http://schemas.microsoft.com/office/drawing/2014/main" id="{844DDD49-29A1-D7F5-4D40-D7FF57C75E89}"/>
                  </a:ext>
                </a:extLst>
              </p:cNvPr>
              <p:cNvSpPr txBox="1"/>
              <p:nvPr/>
            </p:nvSpPr>
            <p:spPr>
              <a:xfrm>
                <a:off x="10190442" y="2028380"/>
                <a:ext cx="74656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ℒ</m:t>
                      </m:r>
                    </m:oMath>
                  </m:oMathPara>
                </a14:m>
                <a:endParaRPr lang="en-GB" sz="3600" dirty="0"/>
              </a:p>
            </p:txBody>
          </p:sp>
        </mc:Choice>
        <mc:Fallback>
          <p:sp>
            <p:nvSpPr>
              <p:cNvPr id="34" name="Textfeld 33">
                <a:extLst>
                  <a:ext uri="{FF2B5EF4-FFF2-40B4-BE49-F238E27FC236}">
                    <a16:creationId xmlns:a16="http://schemas.microsoft.com/office/drawing/2014/main" id="{844DDD49-29A1-D7F5-4D40-D7FF57C75E89}"/>
                  </a:ext>
                </a:extLst>
              </p:cNvPr>
              <p:cNvSpPr txBox="1">
                <a:spLocks noRot="1" noChangeAspect="1" noMove="1" noResize="1" noEditPoints="1" noAdjustHandles="1" noChangeArrowheads="1" noChangeShapeType="1" noTextEdit="1"/>
              </p:cNvSpPr>
              <p:nvPr/>
            </p:nvSpPr>
            <p:spPr>
              <a:xfrm>
                <a:off x="10190442" y="2028380"/>
                <a:ext cx="746567" cy="553998"/>
              </a:xfrm>
              <a:prstGeom prst="rect">
                <a:avLst/>
              </a:prstGeom>
              <a:blipFill>
                <a:blip r:embed="rId3"/>
                <a:stretch>
                  <a:fillRect b="-4444"/>
                </a:stretch>
              </a:blipFill>
            </p:spPr>
            <p:txBody>
              <a:bodyPr/>
              <a:lstStyle/>
              <a:p>
                <a:r>
                  <a:rPr lang="en-GB">
                    <a:noFill/>
                  </a:rPr>
                  <a:t> </a:t>
                </a:r>
              </a:p>
            </p:txBody>
          </p:sp>
        </mc:Fallback>
      </mc:AlternateContent>
      <p:cxnSp>
        <p:nvCxnSpPr>
          <p:cNvPr id="37" name="Gerade Verbindung mit Pfeil 36">
            <a:extLst>
              <a:ext uri="{FF2B5EF4-FFF2-40B4-BE49-F238E27FC236}">
                <a16:creationId xmlns:a16="http://schemas.microsoft.com/office/drawing/2014/main" id="{9BFF39BE-F38D-D50A-FFB9-7006ACD1416C}"/>
              </a:ext>
            </a:extLst>
          </p:cNvPr>
          <p:cNvCxnSpPr>
            <a:cxnSpLocks/>
          </p:cNvCxnSpPr>
          <p:nvPr/>
        </p:nvCxnSpPr>
        <p:spPr>
          <a:xfrm>
            <a:off x="5410845" y="2244056"/>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1D37E778-9A21-ADAD-44DF-8E57E143840D}"/>
              </a:ext>
            </a:extLst>
          </p:cNvPr>
          <p:cNvCxnSpPr>
            <a:cxnSpLocks/>
          </p:cNvCxnSpPr>
          <p:nvPr/>
        </p:nvCxnSpPr>
        <p:spPr>
          <a:xfrm flipH="1">
            <a:off x="5410845" y="2387481"/>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25F2A2D8-6152-A7C8-A7EE-1DE061208011}"/>
              </a:ext>
            </a:extLst>
          </p:cNvPr>
          <p:cNvCxnSpPr>
            <a:cxnSpLocks/>
          </p:cNvCxnSpPr>
          <p:nvPr/>
        </p:nvCxnSpPr>
        <p:spPr>
          <a:xfrm>
            <a:off x="7490656" y="2244056"/>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3596E81F-CA31-82B7-AF36-E6ADE16F82DA}"/>
              </a:ext>
            </a:extLst>
          </p:cNvPr>
          <p:cNvCxnSpPr>
            <a:cxnSpLocks/>
          </p:cNvCxnSpPr>
          <p:nvPr/>
        </p:nvCxnSpPr>
        <p:spPr>
          <a:xfrm flipH="1">
            <a:off x="7490656" y="2387481"/>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 name="Grafik 40">
            <a:extLst>
              <a:ext uri="{FF2B5EF4-FFF2-40B4-BE49-F238E27FC236}">
                <a16:creationId xmlns:a16="http://schemas.microsoft.com/office/drawing/2014/main" id="{F91AEE5D-F824-9FDE-7B1F-8F2C6D488F42}"/>
              </a:ext>
            </a:extLst>
          </p:cNvPr>
          <p:cNvPicPr>
            <a:picLocks noChangeAspect="1"/>
          </p:cNvPicPr>
          <p:nvPr/>
        </p:nvPicPr>
        <p:blipFill rotWithShape="1">
          <a:blip r:embed="rId5"/>
          <a:srcRect l="7964" t="3980" r="1224" b="8871"/>
          <a:stretch/>
        </p:blipFill>
        <p:spPr>
          <a:xfrm>
            <a:off x="8048750" y="1819938"/>
            <a:ext cx="1686976" cy="1108636"/>
          </a:xfrm>
          <a:prstGeom prst="rect">
            <a:avLst/>
          </a:prstGeom>
        </p:spPr>
      </p:pic>
      <p:sp>
        <p:nvSpPr>
          <p:cNvPr id="42" name="Textfeld 41">
            <a:extLst>
              <a:ext uri="{FF2B5EF4-FFF2-40B4-BE49-F238E27FC236}">
                <a16:creationId xmlns:a16="http://schemas.microsoft.com/office/drawing/2014/main" id="{F6A59788-9990-AF74-210A-C623492A4D82}"/>
              </a:ext>
            </a:extLst>
          </p:cNvPr>
          <p:cNvSpPr txBox="1"/>
          <p:nvPr/>
        </p:nvSpPr>
        <p:spPr>
          <a:xfrm>
            <a:off x="8321312" y="1488985"/>
            <a:ext cx="1102674" cy="369332"/>
          </a:xfrm>
          <a:prstGeom prst="rect">
            <a:avLst/>
          </a:prstGeom>
          <a:noFill/>
        </p:spPr>
        <p:txBody>
          <a:bodyPr wrap="none" rtlCol="0">
            <a:spAutoFit/>
          </a:bodyPr>
          <a:lstStyle/>
          <a:p>
            <a:r>
              <a:rPr lang="en-GB" dirty="0"/>
              <a:t>Detection</a:t>
            </a:r>
          </a:p>
        </p:txBody>
      </p:sp>
      <p:cxnSp>
        <p:nvCxnSpPr>
          <p:cNvPr id="43" name="Gerade Verbindung mit Pfeil 42">
            <a:extLst>
              <a:ext uri="{FF2B5EF4-FFF2-40B4-BE49-F238E27FC236}">
                <a16:creationId xmlns:a16="http://schemas.microsoft.com/office/drawing/2014/main" id="{72E96A3A-8706-3995-A734-E497D40E4877}"/>
              </a:ext>
            </a:extLst>
          </p:cNvPr>
          <p:cNvCxnSpPr>
            <a:cxnSpLocks/>
          </p:cNvCxnSpPr>
          <p:nvPr/>
        </p:nvCxnSpPr>
        <p:spPr>
          <a:xfrm>
            <a:off x="9800141" y="219304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4CE77ECB-FEFE-814B-59DD-A756DC0AE2B2}"/>
              </a:ext>
            </a:extLst>
          </p:cNvPr>
          <p:cNvCxnSpPr>
            <a:cxnSpLocks/>
          </p:cNvCxnSpPr>
          <p:nvPr/>
        </p:nvCxnSpPr>
        <p:spPr>
          <a:xfrm flipH="1">
            <a:off x="9800141" y="233647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5DED5501-1C20-229C-FA17-9D4409B8DAED}"/>
              </a:ext>
            </a:extLst>
          </p:cNvPr>
          <p:cNvSpPr txBox="1"/>
          <p:nvPr/>
        </p:nvSpPr>
        <p:spPr>
          <a:xfrm>
            <a:off x="10271818" y="1509441"/>
            <a:ext cx="583814" cy="369332"/>
          </a:xfrm>
          <a:prstGeom prst="rect">
            <a:avLst/>
          </a:prstGeom>
          <a:noFill/>
        </p:spPr>
        <p:txBody>
          <a:bodyPr wrap="none" rtlCol="0">
            <a:spAutoFit/>
          </a:bodyPr>
          <a:lstStyle/>
          <a:p>
            <a:r>
              <a:rPr lang="en-GB" dirty="0"/>
              <a:t>Loss</a:t>
            </a:r>
          </a:p>
        </p:txBody>
      </p:sp>
      <p:sp>
        <p:nvSpPr>
          <p:cNvPr id="48" name="Textfeld 47">
            <a:extLst>
              <a:ext uri="{FF2B5EF4-FFF2-40B4-BE49-F238E27FC236}">
                <a16:creationId xmlns:a16="http://schemas.microsoft.com/office/drawing/2014/main" id="{D1EB607B-E229-CECC-D8A1-F391AEFED447}"/>
              </a:ext>
            </a:extLst>
          </p:cNvPr>
          <p:cNvSpPr txBox="1"/>
          <p:nvPr/>
        </p:nvSpPr>
        <p:spPr>
          <a:xfrm>
            <a:off x="699559" y="958967"/>
            <a:ext cx="1048685" cy="369332"/>
          </a:xfrm>
          <a:prstGeom prst="rect">
            <a:avLst/>
          </a:prstGeom>
          <a:noFill/>
        </p:spPr>
        <p:txBody>
          <a:bodyPr wrap="none" rtlCol="0">
            <a:spAutoFit/>
          </a:bodyPr>
          <a:lstStyle/>
          <a:p>
            <a:r>
              <a:rPr lang="en-GB" b="1" u="sng" dirty="0"/>
              <a:t>Baseline</a:t>
            </a:r>
            <a:r>
              <a:rPr lang="en-GB" dirty="0"/>
              <a:t>:</a:t>
            </a:r>
          </a:p>
        </p:txBody>
      </p:sp>
      <p:sp>
        <p:nvSpPr>
          <p:cNvPr id="49" name="Textfeld 48">
            <a:extLst>
              <a:ext uri="{FF2B5EF4-FFF2-40B4-BE49-F238E27FC236}">
                <a16:creationId xmlns:a16="http://schemas.microsoft.com/office/drawing/2014/main" id="{BE567BC4-1210-789F-340F-D3970A2EDA31}"/>
              </a:ext>
            </a:extLst>
          </p:cNvPr>
          <p:cNvSpPr txBox="1"/>
          <p:nvPr/>
        </p:nvSpPr>
        <p:spPr>
          <a:xfrm>
            <a:off x="699559" y="3904598"/>
            <a:ext cx="1820114" cy="369332"/>
          </a:xfrm>
          <a:prstGeom prst="rect">
            <a:avLst/>
          </a:prstGeom>
          <a:noFill/>
        </p:spPr>
        <p:txBody>
          <a:bodyPr wrap="none" rtlCol="0">
            <a:spAutoFit/>
          </a:bodyPr>
          <a:lstStyle/>
          <a:p>
            <a:r>
              <a:rPr lang="en-GB" b="1" u="sng" dirty="0"/>
              <a:t>DOE using PADO:</a:t>
            </a:r>
          </a:p>
        </p:txBody>
      </p:sp>
      <p:grpSp>
        <p:nvGrpSpPr>
          <p:cNvPr id="22" name="Gruppieren 21">
            <a:extLst>
              <a:ext uri="{FF2B5EF4-FFF2-40B4-BE49-F238E27FC236}">
                <a16:creationId xmlns:a16="http://schemas.microsoft.com/office/drawing/2014/main" id="{F02F1E64-2E5F-501F-C1F9-09D5FA2CCC66}"/>
              </a:ext>
            </a:extLst>
          </p:cNvPr>
          <p:cNvGrpSpPr/>
          <p:nvPr/>
        </p:nvGrpSpPr>
        <p:grpSpPr>
          <a:xfrm>
            <a:off x="1146565" y="1290908"/>
            <a:ext cx="3690570" cy="2440234"/>
            <a:chOff x="241491" y="2048569"/>
            <a:chExt cx="3690570" cy="2440234"/>
          </a:xfrm>
        </p:grpSpPr>
        <p:sp>
          <p:nvSpPr>
            <p:cNvPr id="4" name="Textfeld 3">
              <a:extLst>
                <a:ext uri="{FF2B5EF4-FFF2-40B4-BE49-F238E27FC236}">
                  <a16:creationId xmlns:a16="http://schemas.microsoft.com/office/drawing/2014/main" id="{7A6BC039-F026-C7C2-6DFA-5AAF7EB1AB17}"/>
                </a:ext>
              </a:extLst>
            </p:cNvPr>
            <p:cNvSpPr txBox="1"/>
            <p:nvPr/>
          </p:nvSpPr>
          <p:spPr>
            <a:xfrm>
              <a:off x="258546" y="4181026"/>
              <a:ext cx="3673515" cy="307777"/>
            </a:xfrm>
            <a:prstGeom prst="rect">
              <a:avLst/>
            </a:prstGeom>
            <a:noFill/>
          </p:spPr>
          <p:txBody>
            <a:bodyPr wrap="square" rtlCol="0">
              <a:spAutoFit/>
            </a:bodyPr>
            <a:lstStyle/>
            <a:p>
              <a:pPr algn="ctr"/>
              <a:r>
                <a:rPr lang="en-GB" sz="1400" b="1" dirty="0"/>
                <a:t>ACDC Images [1] (1375 + 399 + 199 images)</a:t>
              </a:r>
            </a:p>
          </p:txBody>
        </p:sp>
        <p:pic>
          <p:nvPicPr>
            <p:cNvPr id="21" name="Grafik 20">
              <a:extLst>
                <a:ext uri="{FF2B5EF4-FFF2-40B4-BE49-F238E27FC236}">
                  <a16:creationId xmlns:a16="http://schemas.microsoft.com/office/drawing/2014/main" id="{1FBF88FC-5739-0C2A-0AB6-65E67318ECA4}"/>
                </a:ext>
              </a:extLst>
            </p:cNvPr>
            <p:cNvPicPr>
              <a:picLocks noChangeAspect="1"/>
            </p:cNvPicPr>
            <p:nvPr/>
          </p:nvPicPr>
          <p:blipFill>
            <a:blip r:embed="rId11"/>
            <a:stretch>
              <a:fillRect/>
            </a:stretch>
          </p:blipFill>
          <p:spPr>
            <a:xfrm>
              <a:off x="241491" y="2048569"/>
              <a:ext cx="3690570" cy="2214342"/>
            </a:xfrm>
            <a:prstGeom prst="rect">
              <a:avLst/>
            </a:prstGeom>
          </p:spPr>
        </p:pic>
      </p:grpSp>
      <p:grpSp>
        <p:nvGrpSpPr>
          <p:cNvPr id="23" name="Gruppieren 22">
            <a:extLst>
              <a:ext uri="{FF2B5EF4-FFF2-40B4-BE49-F238E27FC236}">
                <a16:creationId xmlns:a16="http://schemas.microsoft.com/office/drawing/2014/main" id="{F58AB326-CDBD-720C-8AE0-F889EF7CE4B6}"/>
              </a:ext>
            </a:extLst>
          </p:cNvPr>
          <p:cNvGrpSpPr/>
          <p:nvPr/>
        </p:nvGrpSpPr>
        <p:grpSpPr>
          <a:xfrm>
            <a:off x="1157483" y="4246284"/>
            <a:ext cx="3690570" cy="2440234"/>
            <a:chOff x="241491" y="2048569"/>
            <a:chExt cx="3690570" cy="2440234"/>
          </a:xfrm>
        </p:grpSpPr>
        <p:sp>
          <p:nvSpPr>
            <p:cNvPr id="24" name="Textfeld 23">
              <a:extLst>
                <a:ext uri="{FF2B5EF4-FFF2-40B4-BE49-F238E27FC236}">
                  <a16:creationId xmlns:a16="http://schemas.microsoft.com/office/drawing/2014/main" id="{79234707-72CD-4FAD-B08B-060F35A0122F}"/>
                </a:ext>
              </a:extLst>
            </p:cNvPr>
            <p:cNvSpPr txBox="1"/>
            <p:nvPr/>
          </p:nvSpPr>
          <p:spPr>
            <a:xfrm>
              <a:off x="258546" y="4181026"/>
              <a:ext cx="3673515" cy="307777"/>
            </a:xfrm>
            <a:prstGeom prst="rect">
              <a:avLst/>
            </a:prstGeom>
            <a:noFill/>
          </p:spPr>
          <p:txBody>
            <a:bodyPr wrap="square" rtlCol="0">
              <a:spAutoFit/>
            </a:bodyPr>
            <a:lstStyle/>
            <a:p>
              <a:pPr algn="ctr"/>
              <a:r>
                <a:rPr lang="en-GB" sz="1400" b="1" dirty="0"/>
                <a:t>ACDC Images [1] (1375 + 399 + 199 images)</a:t>
              </a:r>
            </a:p>
          </p:txBody>
        </p:sp>
        <p:pic>
          <p:nvPicPr>
            <p:cNvPr id="35" name="Grafik 34">
              <a:extLst>
                <a:ext uri="{FF2B5EF4-FFF2-40B4-BE49-F238E27FC236}">
                  <a16:creationId xmlns:a16="http://schemas.microsoft.com/office/drawing/2014/main" id="{A2CD0024-19AD-014D-C28D-115CE5A04AD2}"/>
                </a:ext>
              </a:extLst>
            </p:cNvPr>
            <p:cNvPicPr>
              <a:picLocks noChangeAspect="1"/>
            </p:cNvPicPr>
            <p:nvPr/>
          </p:nvPicPr>
          <p:blipFill>
            <a:blip r:embed="rId11"/>
            <a:stretch>
              <a:fillRect/>
            </a:stretch>
          </p:blipFill>
          <p:spPr>
            <a:xfrm>
              <a:off x="241491" y="2048569"/>
              <a:ext cx="3690570" cy="2214342"/>
            </a:xfrm>
            <a:prstGeom prst="rect">
              <a:avLst/>
            </a:prstGeom>
          </p:spPr>
        </p:pic>
      </p:grpSp>
      <p:cxnSp>
        <p:nvCxnSpPr>
          <p:cNvPr id="46" name="Gerade Verbindung 45">
            <a:extLst>
              <a:ext uri="{FF2B5EF4-FFF2-40B4-BE49-F238E27FC236}">
                <a16:creationId xmlns:a16="http://schemas.microsoft.com/office/drawing/2014/main" id="{8F9E628F-B9B3-577D-357F-EB3E012C5873}"/>
              </a:ext>
            </a:extLst>
          </p:cNvPr>
          <p:cNvCxnSpPr>
            <a:cxnSpLocks/>
          </p:cNvCxnSpPr>
          <p:nvPr/>
        </p:nvCxnSpPr>
        <p:spPr>
          <a:xfrm>
            <a:off x="-146299" y="3818540"/>
            <a:ext cx="12455236" cy="0"/>
          </a:xfrm>
          <a:prstGeom prst="line">
            <a:avLst/>
          </a:prstGeom>
          <a:ln w="412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0129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D4B6CD-A168-5C50-AD9E-3CD36785B461}"/>
              </a:ext>
            </a:extLst>
          </p:cNvPr>
          <p:cNvSpPr>
            <a:spLocks noGrp="1"/>
          </p:cNvSpPr>
          <p:nvPr>
            <p:ph type="title"/>
          </p:nvPr>
        </p:nvSpPr>
        <p:spPr>
          <a:xfrm>
            <a:off x="421409" y="-104010"/>
            <a:ext cx="10515600" cy="1325563"/>
          </a:xfrm>
        </p:spPr>
        <p:txBody>
          <a:bodyPr/>
          <a:lstStyle/>
          <a:p>
            <a:r>
              <a:rPr lang="en-GB" dirty="0"/>
              <a:t>Methods</a:t>
            </a:r>
          </a:p>
        </p:txBody>
      </p:sp>
      <p:grpSp>
        <p:nvGrpSpPr>
          <p:cNvPr id="12" name="Gruppieren 11">
            <a:extLst>
              <a:ext uri="{FF2B5EF4-FFF2-40B4-BE49-F238E27FC236}">
                <a16:creationId xmlns:a16="http://schemas.microsoft.com/office/drawing/2014/main" id="{455B0574-94C4-7F1B-FEEE-3FF27084EA3F}"/>
              </a:ext>
            </a:extLst>
          </p:cNvPr>
          <p:cNvGrpSpPr/>
          <p:nvPr/>
        </p:nvGrpSpPr>
        <p:grpSpPr>
          <a:xfrm>
            <a:off x="523405" y="1759567"/>
            <a:ext cx="3673516" cy="2278483"/>
            <a:chOff x="598356" y="1790345"/>
            <a:chExt cx="3673516" cy="2278483"/>
          </a:xfrm>
        </p:grpSpPr>
        <p:pic>
          <p:nvPicPr>
            <p:cNvPr id="3" name="Inhaltsplatzhalter 3">
              <a:extLst>
                <a:ext uri="{FF2B5EF4-FFF2-40B4-BE49-F238E27FC236}">
                  <a16:creationId xmlns:a16="http://schemas.microsoft.com/office/drawing/2014/main" id="{A595986F-E63C-2466-AC08-A88F98FA14FD}"/>
                </a:ext>
              </a:extLst>
            </p:cNvPr>
            <p:cNvPicPr>
              <a:picLocks noChangeAspect="1"/>
            </p:cNvPicPr>
            <p:nvPr/>
          </p:nvPicPr>
          <p:blipFill>
            <a:blip r:embed="rId3"/>
            <a:stretch>
              <a:fillRect/>
            </a:stretch>
          </p:blipFill>
          <p:spPr>
            <a:xfrm>
              <a:off x="598357" y="2060020"/>
              <a:ext cx="3673515" cy="2008808"/>
            </a:xfrm>
            <a:prstGeom prst="rect">
              <a:avLst/>
            </a:prstGeom>
          </p:spPr>
        </p:pic>
        <p:sp>
          <p:nvSpPr>
            <p:cNvPr id="4" name="Textfeld 3">
              <a:extLst>
                <a:ext uri="{FF2B5EF4-FFF2-40B4-BE49-F238E27FC236}">
                  <a16:creationId xmlns:a16="http://schemas.microsoft.com/office/drawing/2014/main" id="{7A6BC039-F026-C7C2-6DFA-5AAF7EB1AB17}"/>
                </a:ext>
              </a:extLst>
            </p:cNvPr>
            <p:cNvSpPr txBox="1"/>
            <p:nvPr/>
          </p:nvSpPr>
          <p:spPr>
            <a:xfrm>
              <a:off x="598356" y="1790345"/>
              <a:ext cx="3673515" cy="307777"/>
            </a:xfrm>
            <a:prstGeom prst="rect">
              <a:avLst/>
            </a:prstGeom>
            <a:noFill/>
          </p:spPr>
          <p:txBody>
            <a:bodyPr wrap="square" rtlCol="0">
              <a:spAutoFit/>
            </a:bodyPr>
            <a:lstStyle/>
            <a:p>
              <a:r>
                <a:rPr lang="en-GB" sz="1400" b="1" dirty="0"/>
                <a:t>Foggy Cityscape Images [1] (2976 + 501 images)</a:t>
              </a:r>
            </a:p>
          </p:txBody>
        </p:sp>
      </p:grpSp>
      <p:sp>
        <p:nvSpPr>
          <p:cNvPr id="11" name="Textfeld 10">
            <a:extLst>
              <a:ext uri="{FF2B5EF4-FFF2-40B4-BE49-F238E27FC236}">
                <a16:creationId xmlns:a16="http://schemas.microsoft.com/office/drawing/2014/main" id="{C6294E53-1D5B-1A06-79A2-D3BDC0123A57}"/>
              </a:ext>
            </a:extLst>
          </p:cNvPr>
          <p:cNvSpPr txBox="1"/>
          <p:nvPr/>
        </p:nvSpPr>
        <p:spPr>
          <a:xfrm>
            <a:off x="0" y="6474940"/>
            <a:ext cx="5264583" cy="430887"/>
          </a:xfrm>
          <a:prstGeom prst="rect">
            <a:avLst/>
          </a:prstGeom>
          <a:noFill/>
        </p:spPr>
        <p:txBody>
          <a:bodyPr wrap="none" rtlCol="0">
            <a:spAutoFit/>
          </a:bodyPr>
          <a:lstStyle/>
          <a:p>
            <a:r>
              <a:rPr lang="en-GB" sz="1100" dirty="0"/>
              <a:t>[1] </a:t>
            </a:r>
            <a:r>
              <a:rPr lang="en-GB" sz="1100" dirty="0">
                <a:hlinkClick r:id="rId4"/>
              </a:rPr>
              <a:t>https://www.kaggle.com/datasets/khitdon/foggy-cityscapes-yolo</a:t>
            </a:r>
            <a:br>
              <a:rPr lang="en-GB" sz="1100" dirty="0"/>
            </a:br>
            <a:r>
              <a:rPr lang="en-GB" sz="1100" dirty="0"/>
              <a:t>[2] </a:t>
            </a:r>
            <a:r>
              <a:rPr lang="en-GB" sz="1100" dirty="0">
                <a:hlinkClick r:id="rId5"/>
              </a:rPr>
              <a:t>https://www.kaggle.com/datasets/orvile/dawn-detection-in-adverse-weather-nature</a:t>
            </a:r>
            <a:endParaRPr lang="en-GB" sz="1100" dirty="0"/>
          </a:p>
        </p:txBody>
      </p:sp>
      <p:pic>
        <p:nvPicPr>
          <p:cNvPr id="5" name="Grafik 4">
            <a:extLst>
              <a:ext uri="{FF2B5EF4-FFF2-40B4-BE49-F238E27FC236}">
                <a16:creationId xmlns:a16="http://schemas.microsoft.com/office/drawing/2014/main" id="{E184B02E-E1B9-6148-D47B-702E7BD8697F}"/>
              </a:ext>
            </a:extLst>
          </p:cNvPr>
          <p:cNvPicPr>
            <a:picLocks noChangeAspect="1"/>
          </p:cNvPicPr>
          <p:nvPr/>
        </p:nvPicPr>
        <p:blipFill>
          <a:blip r:embed="rId6"/>
          <a:stretch>
            <a:fillRect/>
          </a:stretch>
        </p:blipFill>
        <p:spPr>
          <a:xfrm>
            <a:off x="523405" y="4364814"/>
            <a:ext cx="3673515" cy="2008808"/>
          </a:xfrm>
          <a:prstGeom prst="rect">
            <a:avLst/>
          </a:prstGeom>
        </p:spPr>
      </p:pic>
      <p:sp>
        <p:nvSpPr>
          <p:cNvPr id="7" name="Textfeld 6">
            <a:extLst>
              <a:ext uri="{FF2B5EF4-FFF2-40B4-BE49-F238E27FC236}">
                <a16:creationId xmlns:a16="http://schemas.microsoft.com/office/drawing/2014/main" id="{6071C3DD-867C-D1CC-03EE-F2A9D888644E}"/>
              </a:ext>
            </a:extLst>
          </p:cNvPr>
          <p:cNvSpPr txBox="1"/>
          <p:nvPr/>
        </p:nvSpPr>
        <p:spPr>
          <a:xfrm>
            <a:off x="912092" y="4106929"/>
            <a:ext cx="3835399" cy="307777"/>
          </a:xfrm>
          <a:prstGeom prst="rect">
            <a:avLst/>
          </a:prstGeom>
          <a:noFill/>
        </p:spPr>
        <p:txBody>
          <a:bodyPr wrap="square" rtlCol="0">
            <a:spAutoFit/>
          </a:bodyPr>
          <a:lstStyle/>
          <a:p>
            <a:r>
              <a:rPr lang="en-GB" sz="1400" b="1" dirty="0"/>
              <a:t>DAWN Images [2] (301 + 167 images)</a:t>
            </a:r>
          </a:p>
        </p:txBody>
      </p:sp>
      <p:sp>
        <p:nvSpPr>
          <p:cNvPr id="8" name="Abgerundetes Rechteck 7">
            <a:extLst>
              <a:ext uri="{FF2B5EF4-FFF2-40B4-BE49-F238E27FC236}">
                <a16:creationId xmlns:a16="http://schemas.microsoft.com/office/drawing/2014/main" id="{629B07C8-B35F-CBA1-30B1-1F22E7C92934}"/>
              </a:ext>
            </a:extLst>
          </p:cNvPr>
          <p:cNvSpPr/>
          <p:nvPr/>
        </p:nvSpPr>
        <p:spPr>
          <a:xfrm>
            <a:off x="6375440" y="4695693"/>
            <a:ext cx="1358537" cy="7707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YOLOv11</a:t>
            </a:r>
          </a:p>
          <a:p>
            <a:pPr algn="ctr"/>
            <a:r>
              <a:rPr lang="en-GB" dirty="0"/>
              <a:t>(</a:t>
            </a:r>
            <a:r>
              <a:rPr lang="en-GB" dirty="0" err="1"/>
              <a:t>Ultralytics</a:t>
            </a:r>
            <a:r>
              <a:rPr lang="en-GB" dirty="0"/>
              <a:t>)</a:t>
            </a:r>
          </a:p>
        </p:txBody>
      </p:sp>
      <mc:AlternateContent xmlns:mc="http://schemas.openxmlformats.org/markup-compatibility/2006">
        <mc:Choice xmlns:a14="http://schemas.microsoft.com/office/drawing/2010/main" Requires="a14">
          <p:sp>
            <p:nvSpPr>
              <p:cNvPr id="10" name="Textfeld 9">
                <a:extLst>
                  <a:ext uri="{FF2B5EF4-FFF2-40B4-BE49-F238E27FC236}">
                    <a16:creationId xmlns:a16="http://schemas.microsoft.com/office/drawing/2014/main" id="{51DBF89C-E908-8582-EE3A-B6ED50AEB851}"/>
                  </a:ext>
                </a:extLst>
              </p:cNvPr>
              <p:cNvSpPr txBox="1"/>
              <p:nvPr/>
            </p:nvSpPr>
            <p:spPr>
              <a:xfrm>
                <a:off x="10563726" y="4750873"/>
                <a:ext cx="74656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ℒ</m:t>
                      </m:r>
                    </m:oMath>
                  </m:oMathPara>
                </a14:m>
                <a:endParaRPr lang="en-GB" sz="3600" dirty="0"/>
              </a:p>
            </p:txBody>
          </p:sp>
        </mc:Choice>
        <mc:Fallback>
          <p:sp>
            <p:nvSpPr>
              <p:cNvPr id="10" name="Textfeld 9">
                <a:extLst>
                  <a:ext uri="{FF2B5EF4-FFF2-40B4-BE49-F238E27FC236}">
                    <a16:creationId xmlns:a16="http://schemas.microsoft.com/office/drawing/2014/main" id="{51DBF89C-E908-8582-EE3A-B6ED50AEB851}"/>
                  </a:ext>
                </a:extLst>
              </p:cNvPr>
              <p:cNvSpPr txBox="1">
                <a:spLocks noRot="1" noChangeAspect="1" noMove="1" noResize="1" noEditPoints="1" noAdjustHandles="1" noChangeArrowheads="1" noChangeShapeType="1" noTextEdit="1"/>
              </p:cNvSpPr>
              <p:nvPr/>
            </p:nvSpPr>
            <p:spPr>
              <a:xfrm>
                <a:off x="10563726" y="4750873"/>
                <a:ext cx="746567" cy="553998"/>
              </a:xfrm>
              <a:prstGeom prst="rect">
                <a:avLst/>
              </a:prstGeom>
              <a:blipFill>
                <a:blip r:embed="rId7"/>
                <a:stretch>
                  <a:fillRect b="-6667"/>
                </a:stretch>
              </a:blipFill>
            </p:spPr>
            <p:txBody>
              <a:bodyPr/>
              <a:lstStyle/>
              <a:p>
                <a:r>
                  <a:rPr lang="en-GB">
                    <a:noFill/>
                  </a:rPr>
                  <a:t> </a:t>
                </a:r>
              </a:p>
            </p:txBody>
          </p:sp>
        </mc:Fallback>
      </mc:AlternateContent>
      <p:pic>
        <p:nvPicPr>
          <p:cNvPr id="13" name="Grafik 12">
            <a:extLst>
              <a:ext uri="{FF2B5EF4-FFF2-40B4-BE49-F238E27FC236}">
                <a16:creationId xmlns:a16="http://schemas.microsoft.com/office/drawing/2014/main" id="{5E439152-F239-B9D7-149A-0C25B4C54FE0}"/>
              </a:ext>
            </a:extLst>
          </p:cNvPr>
          <p:cNvPicPr>
            <a:picLocks noChangeAspect="1"/>
          </p:cNvPicPr>
          <p:nvPr/>
        </p:nvPicPr>
        <p:blipFill>
          <a:blip r:embed="rId8"/>
          <a:stretch>
            <a:fillRect/>
          </a:stretch>
        </p:blipFill>
        <p:spPr>
          <a:xfrm>
            <a:off x="5384145" y="4627921"/>
            <a:ext cx="208140" cy="858579"/>
          </a:xfrm>
          <a:prstGeom prst="rect">
            <a:avLst/>
          </a:prstGeom>
        </p:spPr>
      </p:pic>
      <p:sp>
        <p:nvSpPr>
          <p:cNvPr id="14" name="Textfeld 13">
            <a:extLst>
              <a:ext uri="{FF2B5EF4-FFF2-40B4-BE49-F238E27FC236}">
                <a16:creationId xmlns:a16="http://schemas.microsoft.com/office/drawing/2014/main" id="{71CD9407-E5DF-B41C-3F3F-D15274389A24}"/>
              </a:ext>
            </a:extLst>
          </p:cNvPr>
          <p:cNvSpPr txBox="1"/>
          <p:nvPr/>
        </p:nvSpPr>
        <p:spPr>
          <a:xfrm>
            <a:off x="5192300" y="5466401"/>
            <a:ext cx="591829" cy="369332"/>
          </a:xfrm>
          <a:prstGeom prst="rect">
            <a:avLst/>
          </a:prstGeom>
          <a:noFill/>
        </p:spPr>
        <p:txBody>
          <a:bodyPr wrap="none" rtlCol="0">
            <a:spAutoFit/>
          </a:bodyPr>
          <a:lstStyle/>
          <a:p>
            <a:r>
              <a:rPr lang="en-GB" dirty="0"/>
              <a:t>DOE</a:t>
            </a:r>
          </a:p>
        </p:txBody>
      </p:sp>
      <p:cxnSp>
        <p:nvCxnSpPr>
          <p:cNvPr id="16" name="Gerade Verbindung mit Pfeil 15">
            <a:extLst>
              <a:ext uri="{FF2B5EF4-FFF2-40B4-BE49-F238E27FC236}">
                <a16:creationId xmlns:a16="http://schemas.microsoft.com/office/drawing/2014/main" id="{0A05233B-C909-1B48-EA0A-364709E8EBF9}"/>
              </a:ext>
            </a:extLst>
          </p:cNvPr>
          <p:cNvCxnSpPr>
            <a:cxnSpLocks/>
          </p:cNvCxnSpPr>
          <p:nvPr/>
        </p:nvCxnSpPr>
        <p:spPr>
          <a:xfrm>
            <a:off x="5784129" y="496654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Gerade Verbindung mit Pfeil 17">
            <a:extLst>
              <a:ext uri="{FF2B5EF4-FFF2-40B4-BE49-F238E27FC236}">
                <a16:creationId xmlns:a16="http://schemas.microsoft.com/office/drawing/2014/main" id="{48FAB8DC-E884-B4E6-B528-565834E9F502}"/>
              </a:ext>
            </a:extLst>
          </p:cNvPr>
          <p:cNvCxnSpPr>
            <a:cxnSpLocks/>
          </p:cNvCxnSpPr>
          <p:nvPr/>
        </p:nvCxnSpPr>
        <p:spPr>
          <a:xfrm flipH="1">
            <a:off x="5784129" y="510997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Gerade Verbindung mit Pfeil 24">
            <a:extLst>
              <a:ext uri="{FF2B5EF4-FFF2-40B4-BE49-F238E27FC236}">
                <a16:creationId xmlns:a16="http://schemas.microsoft.com/office/drawing/2014/main" id="{E1E7A2AA-3F9C-7726-593C-717C0E138FBD}"/>
              </a:ext>
            </a:extLst>
          </p:cNvPr>
          <p:cNvCxnSpPr>
            <a:cxnSpLocks/>
          </p:cNvCxnSpPr>
          <p:nvPr/>
        </p:nvCxnSpPr>
        <p:spPr>
          <a:xfrm>
            <a:off x="7863940" y="496654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Gerade Verbindung mit Pfeil 25">
            <a:extLst>
              <a:ext uri="{FF2B5EF4-FFF2-40B4-BE49-F238E27FC236}">
                <a16:creationId xmlns:a16="http://schemas.microsoft.com/office/drawing/2014/main" id="{506B8BC7-DFB3-8EDF-C2F8-A4A155FE558C}"/>
              </a:ext>
            </a:extLst>
          </p:cNvPr>
          <p:cNvCxnSpPr>
            <a:cxnSpLocks/>
          </p:cNvCxnSpPr>
          <p:nvPr/>
        </p:nvCxnSpPr>
        <p:spPr>
          <a:xfrm flipH="1">
            <a:off x="7863940" y="510997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27" name="Grafik 26">
            <a:extLst>
              <a:ext uri="{FF2B5EF4-FFF2-40B4-BE49-F238E27FC236}">
                <a16:creationId xmlns:a16="http://schemas.microsoft.com/office/drawing/2014/main" id="{3D96529C-2C6F-3207-38E9-A5F7C113FD90}"/>
              </a:ext>
            </a:extLst>
          </p:cNvPr>
          <p:cNvPicPr>
            <a:picLocks noChangeAspect="1"/>
          </p:cNvPicPr>
          <p:nvPr/>
        </p:nvPicPr>
        <p:blipFill rotWithShape="1">
          <a:blip r:embed="rId9"/>
          <a:srcRect l="7964" t="3980" r="1224" b="8871"/>
          <a:stretch/>
        </p:blipFill>
        <p:spPr>
          <a:xfrm>
            <a:off x="8422034" y="4542431"/>
            <a:ext cx="1686976" cy="1108636"/>
          </a:xfrm>
          <a:prstGeom prst="rect">
            <a:avLst/>
          </a:prstGeom>
        </p:spPr>
      </p:pic>
      <p:sp>
        <p:nvSpPr>
          <p:cNvPr id="28" name="Textfeld 27">
            <a:extLst>
              <a:ext uri="{FF2B5EF4-FFF2-40B4-BE49-F238E27FC236}">
                <a16:creationId xmlns:a16="http://schemas.microsoft.com/office/drawing/2014/main" id="{0FE0B056-850C-2C0C-4E0B-F1D650AD96C2}"/>
              </a:ext>
            </a:extLst>
          </p:cNvPr>
          <p:cNvSpPr txBox="1"/>
          <p:nvPr/>
        </p:nvSpPr>
        <p:spPr>
          <a:xfrm>
            <a:off x="8694596" y="4211478"/>
            <a:ext cx="1102674" cy="369332"/>
          </a:xfrm>
          <a:prstGeom prst="rect">
            <a:avLst/>
          </a:prstGeom>
          <a:noFill/>
        </p:spPr>
        <p:txBody>
          <a:bodyPr wrap="none" rtlCol="0">
            <a:spAutoFit/>
          </a:bodyPr>
          <a:lstStyle/>
          <a:p>
            <a:r>
              <a:rPr lang="en-GB" dirty="0"/>
              <a:t>Detection</a:t>
            </a:r>
          </a:p>
        </p:txBody>
      </p:sp>
      <p:cxnSp>
        <p:nvCxnSpPr>
          <p:cNvPr id="29" name="Gerade Verbindung mit Pfeil 28">
            <a:extLst>
              <a:ext uri="{FF2B5EF4-FFF2-40B4-BE49-F238E27FC236}">
                <a16:creationId xmlns:a16="http://schemas.microsoft.com/office/drawing/2014/main" id="{D470A574-5B10-0EDE-2260-384A6C921B37}"/>
              </a:ext>
            </a:extLst>
          </p:cNvPr>
          <p:cNvCxnSpPr>
            <a:cxnSpLocks/>
          </p:cNvCxnSpPr>
          <p:nvPr/>
        </p:nvCxnSpPr>
        <p:spPr>
          <a:xfrm>
            <a:off x="10173425" y="4915542"/>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Gerade Verbindung mit Pfeil 29">
            <a:extLst>
              <a:ext uri="{FF2B5EF4-FFF2-40B4-BE49-F238E27FC236}">
                <a16:creationId xmlns:a16="http://schemas.microsoft.com/office/drawing/2014/main" id="{5D9D37F8-C4B6-47F4-E6D2-9FFC0866FB2A}"/>
              </a:ext>
            </a:extLst>
          </p:cNvPr>
          <p:cNvCxnSpPr>
            <a:cxnSpLocks/>
          </p:cNvCxnSpPr>
          <p:nvPr/>
        </p:nvCxnSpPr>
        <p:spPr>
          <a:xfrm flipH="1">
            <a:off x="10173425" y="5058967"/>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 name="Textfeld 30">
            <a:extLst>
              <a:ext uri="{FF2B5EF4-FFF2-40B4-BE49-F238E27FC236}">
                <a16:creationId xmlns:a16="http://schemas.microsoft.com/office/drawing/2014/main" id="{9486F0AA-E956-7CA3-20F7-9D6BC9E8DEC9}"/>
              </a:ext>
            </a:extLst>
          </p:cNvPr>
          <p:cNvSpPr txBox="1"/>
          <p:nvPr/>
        </p:nvSpPr>
        <p:spPr>
          <a:xfrm>
            <a:off x="10645102" y="4231934"/>
            <a:ext cx="583814" cy="369332"/>
          </a:xfrm>
          <a:prstGeom prst="rect">
            <a:avLst/>
          </a:prstGeom>
          <a:noFill/>
        </p:spPr>
        <p:txBody>
          <a:bodyPr wrap="none" rtlCol="0">
            <a:spAutoFit/>
          </a:bodyPr>
          <a:lstStyle/>
          <a:p>
            <a:r>
              <a:rPr lang="en-GB" dirty="0"/>
              <a:t>Loss</a:t>
            </a:r>
          </a:p>
        </p:txBody>
      </p:sp>
      <mc:AlternateContent xmlns:mc="http://schemas.openxmlformats.org/markup-compatibility/2006">
        <mc:Choice xmlns:a14="http://schemas.microsoft.com/office/drawing/2010/main" Requires="a14">
          <p:sp>
            <p:nvSpPr>
              <p:cNvPr id="32" name="Textfeld 31">
                <a:extLst>
                  <a:ext uri="{FF2B5EF4-FFF2-40B4-BE49-F238E27FC236}">
                    <a16:creationId xmlns:a16="http://schemas.microsoft.com/office/drawing/2014/main" id="{CAD93931-F379-E682-81F3-58CB32671CDA}"/>
                  </a:ext>
                </a:extLst>
              </p:cNvPr>
              <p:cNvSpPr txBox="1"/>
              <p:nvPr/>
            </p:nvSpPr>
            <p:spPr>
              <a:xfrm>
                <a:off x="4902032" y="4760593"/>
                <a:ext cx="32701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m:t>
                      </m:r>
                    </m:oMath>
                  </m:oMathPara>
                </a14:m>
                <a:endParaRPr lang="en-GB" sz="2800" dirty="0"/>
              </a:p>
            </p:txBody>
          </p:sp>
        </mc:Choice>
        <mc:Fallback>
          <p:sp>
            <p:nvSpPr>
              <p:cNvPr id="32" name="Textfeld 31">
                <a:extLst>
                  <a:ext uri="{FF2B5EF4-FFF2-40B4-BE49-F238E27FC236}">
                    <a16:creationId xmlns:a16="http://schemas.microsoft.com/office/drawing/2014/main" id="{CAD93931-F379-E682-81F3-58CB32671CDA}"/>
                  </a:ext>
                </a:extLst>
              </p:cNvPr>
              <p:cNvSpPr txBox="1">
                <a:spLocks noRot="1" noChangeAspect="1" noMove="1" noResize="1" noEditPoints="1" noAdjustHandles="1" noChangeArrowheads="1" noChangeShapeType="1" noTextEdit="1"/>
              </p:cNvSpPr>
              <p:nvPr/>
            </p:nvSpPr>
            <p:spPr>
              <a:xfrm>
                <a:off x="4902032" y="4760593"/>
                <a:ext cx="327013" cy="553998"/>
              </a:xfrm>
              <a:prstGeom prst="rect">
                <a:avLst/>
              </a:prstGeom>
              <a:blipFill>
                <a:blip r:embed="rId10"/>
                <a:stretch>
                  <a:fillRect l="-14815" r="-18519"/>
                </a:stretch>
              </a:blipFill>
            </p:spPr>
            <p:txBody>
              <a:bodyPr/>
              <a:lstStyle/>
              <a:p>
                <a:r>
                  <a:rPr lang="en-GB">
                    <a:noFill/>
                  </a:rPr>
                  <a:t> </a:t>
                </a:r>
              </a:p>
            </p:txBody>
          </p:sp>
        </mc:Fallback>
      </mc:AlternateContent>
      <p:sp>
        <p:nvSpPr>
          <p:cNvPr id="33" name="Abgerundetes Rechteck 32">
            <a:extLst>
              <a:ext uri="{FF2B5EF4-FFF2-40B4-BE49-F238E27FC236}">
                <a16:creationId xmlns:a16="http://schemas.microsoft.com/office/drawing/2014/main" id="{17999D2D-9DBB-0673-E7DC-FF91847A4F44}"/>
              </a:ext>
            </a:extLst>
          </p:cNvPr>
          <p:cNvSpPr/>
          <p:nvPr/>
        </p:nvSpPr>
        <p:spPr>
          <a:xfrm>
            <a:off x="6375440" y="2045880"/>
            <a:ext cx="1358537" cy="77070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YOLOv11</a:t>
            </a:r>
          </a:p>
          <a:p>
            <a:pPr algn="ctr"/>
            <a:r>
              <a:rPr lang="en-GB" dirty="0"/>
              <a:t>(</a:t>
            </a:r>
            <a:r>
              <a:rPr lang="en-GB" dirty="0" err="1"/>
              <a:t>Ultralytics</a:t>
            </a:r>
            <a:r>
              <a:rPr lang="en-GB" dirty="0"/>
              <a:t>)</a:t>
            </a:r>
          </a:p>
        </p:txBody>
      </p:sp>
      <mc:AlternateContent xmlns:mc="http://schemas.openxmlformats.org/markup-compatibility/2006">
        <mc:Choice xmlns:a14="http://schemas.microsoft.com/office/drawing/2010/main" Requires="a14">
          <p:sp>
            <p:nvSpPr>
              <p:cNvPr id="34" name="Textfeld 33">
                <a:extLst>
                  <a:ext uri="{FF2B5EF4-FFF2-40B4-BE49-F238E27FC236}">
                    <a16:creationId xmlns:a16="http://schemas.microsoft.com/office/drawing/2014/main" id="{844DDD49-29A1-D7F5-4D40-D7FF57C75E89}"/>
                  </a:ext>
                </a:extLst>
              </p:cNvPr>
              <p:cNvSpPr txBox="1"/>
              <p:nvPr/>
            </p:nvSpPr>
            <p:spPr>
              <a:xfrm>
                <a:off x="10563726" y="2101060"/>
                <a:ext cx="746567" cy="553998"/>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GB" sz="3600" i="1" smtClean="0">
                          <a:latin typeface="Cambria Math" panose="02040503050406030204" pitchFamily="18" charset="0"/>
                          <a:ea typeface="Cambria Math" panose="02040503050406030204" pitchFamily="18" charset="0"/>
                        </a:rPr>
                        <m:t>ℒ</m:t>
                      </m:r>
                    </m:oMath>
                  </m:oMathPara>
                </a14:m>
                <a:endParaRPr lang="en-GB" sz="3600" dirty="0"/>
              </a:p>
            </p:txBody>
          </p:sp>
        </mc:Choice>
        <mc:Fallback>
          <p:sp>
            <p:nvSpPr>
              <p:cNvPr id="34" name="Textfeld 33">
                <a:extLst>
                  <a:ext uri="{FF2B5EF4-FFF2-40B4-BE49-F238E27FC236}">
                    <a16:creationId xmlns:a16="http://schemas.microsoft.com/office/drawing/2014/main" id="{844DDD49-29A1-D7F5-4D40-D7FF57C75E89}"/>
                  </a:ext>
                </a:extLst>
              </p:cNvPr>
              <p:cNvSpPr txBox="1">
                <a:spLocks noRot="1" noChangeAspect="1" noMove="1" noResize="1" noEditPoints="1" noAdjustHandles="1" noChangeArrowheads="1" noChangeShapeType="1" noTextEdit="1"/>
              </p:cNvSpPr>
              <p:nvPr/>
            </p:nvSpPr>
            <p:spPr>
              <a:xfrm>
                <a:off x="10563726" y="2101060"/>
                <a:ext cx="746567" cy="553998"/>
              </a:xfrm>
              <a:prstGeom prst="rect">
                <a:avLst/>
              </a:prstGeom>
              <a:blipFill>
                <a:blip r:embed="rId11"/>
                <a:stretch>
                  <a:fillRect b="-4444"/>
                </a:stretch>
              </a:blipFill>
            </p:spPr>
            <p:txBody>
              <a:bodyPr/>
              <a:lstStyle/>
              <a:p>
                <a:r>
                  <a:rPr lang="en-GB">
                    <a:noFill/>
                  </a:rPr>
                  <a:t> </a:t>
                </a:r>
              </a:p>
            </p:txBody>
          </p:sp>
        </mc:Fallback>
      </mc:AlternateContent>
      <p:cxnSp>
        <p:nvCxnSpPr>
          <p:cNvPr id="37" name="Gerade Verbindung mit Pfeil 36">
            <a:extLst>
              <a:ext uri="{FF2B5EF4-FFF2-40B4-BE49-F238E27FC236}">
                <a16:creationId xmlns:a16="http://schemas.microsoft.com/office/drawing/2014/main" id="{9BFF39BE-F38D-D50A-FFB9-7006ACD1416C}"/>
              </a:ext>
            </a:extLst>
          </p:cNvPr>
          <p:cNvCxnSpPr>
            <a:cxnSpLocks/>
          </p:cNvCxnSpPr>
          <p:nvPr/>
        </p:nvCxnSpPr>
        <p:spPr>
          <a:xfrm>
            <a:off x="5784129" y="2316736"/>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Gerade Verbindung mit Pfeil 37">
            <a:extLst>
              <a:ext uri="{FF2B5EF4-FFF2-40B4-BE49-F238E27FC236}">
                <a16:creationId xmlns:a16="http://schemas.microsoft.com/office/drawing/2014/main" id="{1D37E778-9A21-ADAD-44DF-8E57E143840D}"/>
              </a:ext>
            </a:extLst>
          </p:cNvPr>
          <p:cNvCxnSpPr>
            <a:cxnSpLocks/>
          </p:cNvCxnSpPr>
          <p:nvPr/>
        </p:nvCxnSpPr>
        <p:spPr>
          <a:xfrm flipH="1">
            <a:off x="5784129" y="2460161"/>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a:extLst>
              <a:ext uri="{FF2B5EF4-FFF2-40B4-BE49-F238E27FC236}">
                <a16:creationId xmlns:a16="http://schemas.microsoft.com/office/drawing/2014/main" id="{25F2A2D8-6152-A7C8-A7EE-1DE061208011}"/>
              </a:ext>
            </a:extLst>
          </p:cNvPr>
          <p:cNvCxnSpPr>
            <a:cxnSpLocks/>
          </p:cNvCxnSpPr>
          <p:nvPr/>
        </p:nvCxnSpPr>
        <p:spPr>
          <a:xfrm>
            <a:off x="7863940" y="2316736"/>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Gerade Verbindung mit Pfeil 39">
            <a:extLst>
              <a:ext uri="{FF2B5EF4-FFF2-40B4-BE49-F238E27FC236}">
                <a16:creationId xmlns:a16="http://schemas.microsoft.com/office/drawing/2014/main" id="{3596E81F-CA31-82B7-AF36-E6ADE16F82DA}"/>
              </a:ext>
            </a:extLst>
          </p:cNvPr>
          <p:cNvCxnSpPr>
            <a:cxnSpLocks/>
          </p:cNvCxnSpPr>
          <p:nvPr/>
        </p:nvCxnSpPr>
        <p:spPr>
          <a:xfrm flipH="1">
            <a:off x="7863940" y="2460161"/>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41" name="Grafik 40">
            <a:extLst>
              <a:ext uri="{FF2B5EF4-FFF2-40B4-BE49-F238E27FC236}">
                <a16:creationId xmlns:a16="http://schemas.microsoft.com/office/drawing/2014/main" id="{F91AEE5D-F824-9FDE-7B1F-8F2C6D488F42}"/>
              </a:ext>
            </a:extLst>
          </p:cNvPr>
          <p:cNvPicPr>
            <a:picLocks noChangeAspect="1"/>
          </p:cNvPicPr>
          <p:nvPr/>
        </p:nvPicPr>
        <p:blipFill rotWithShape="1">
          <a:blip r:embed="rId9"/>
          <a:srcRect l="7964" t="3980" r="1224" b="8871"/>
          <a:stretch/>
        </p:blipFill>
        <p:spPr>
          <a:xfrm>
            <a:off x="8422034" y="1892618"/>
            <a:ext cx="1686976" cy="1108636"/>
          </a:xfrm>
          <a:prstGeom prst="rect">
            <a:avLst/>
          </a:prstGeom>
        </p:spPr>
      </p:pic>
      <p:sp>
        <p:nvSpPr>
          <p:cNvPr id="42" name="Textfeld 41">
            <a:extLst>
              <a:ext uri="{FF2B5EF4-FFF2-40B4-BE49-F238E27FC236}">
                <a16:creationId xmlns:a16="http://schemas.microsoft.com/office/drawing/2014/main" id="{F6A59788-9990-AF74-210A-C623492A4D82}"/>
              </a:ext>
            </a:extLst>
          </p:cNvPr>
          <p:cNvSpPr txBox="1"/>
          <p:nvPr/>
        </p:nvSpPr>
        <p:spPr>
          <a:xfrm>
            <a:off x="8694596" y="1561665"/>
            <a:ext cx="1102674" cy="369332"/>
          </a:xfrm>
          <a:prstGeom prst="rect">
            <a:avLst/>
          </a:prstGeom>
          <a:noFill/>
        </p:spPr>
        <p:txBody>
          <a:bodyPr wrap="none" rtlCol="0">
            <a:spAutoFit/>
          </a:bodyPr>
          <a:lstStyle/>
          <a:p>
            <a:r>
              <a:rPr lang="en-GB" dirty="0"/>
              <a:t>Detection</a:t>
            </a:r>
          </a:p>
        </p:txBody>
      </p:sp>
      <p:cxnSp>
        <p:nvCxnSpPr>
          <p:cNvPr id="43" name="Gerade Verbindung mit Pfeil 42">
            <a:extLst>
              <a:ext uri="{FF2B5EF4-FFF2-40B4-BE49-F238E27FC236}">
                <a16:creationId xmlns:a16="http://schemas.microsoft.com/office/drawing/2014/main" id="{72E96A3A-8706-3995-A734-E497D40E4877}"/>
              </a:ext>
            </a:extLst>
          </p:cNvPr>
          <p:cNvCxnSpPr>
            <a:cxnSpLocks/>
          </p:cNvCxnSpPr>
          <p:nvPr/>
        </p:nvCxnSpPr>
        <p:spPr>
          <a:xfrm>
            <a:off x="10173425" y="2265729"/>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Gerade Verbindung mit Pfeil 43">
            <a:extLst>
              <a:ext uri="{FF2B5EF4-FFF2-40B4-BE49-F238E27FC236}">
                <a16:creationId xmlns:a16="http://schemas.microsoft.com/office/drawing/2014/main" id="{4CE77ECB-FEFE-814B-59DD-A756DC0AE2B2}"/>
              </a:ext>
            </a:extLst>
          </p:cNvPr>
          <p:cNvCxnSpPr>
            <a:cxnSpLocks/>
          </p:cNvCxnSpPr>
          <p:nvPr/>
        </p:nvCxnSpPr>
        <p:spPr>
          <a:xfrm flipH="1">
            <a:off x="10173425" y="2409154"/>
            <a:ext cx="46807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Textfeld 44">
            <a:extLst>
              <a:ext uri="{FF2B5EF4-FFF2-40B4-BE49-F238E27FC236}">
                <a16:creationId xmlns:a16="http://schemas.microsoft.com/office/drawing/2014/main" id="{5DED5501-1C20-229C-FA17-9D4409B8DAED}"/>
              </a:ext>
            </a:extLst>
          </p:cNvPr>
          <p:cNvSpPr txBox="1"/>
          <p:nvPr/>
        </p:nvSpPr>
        <p:spPr>
          <a:xfrm>
            <a:off x="10645102" y="1582121"/>
            <a:ext cx="583814" cy="369332"/>
          </a:xfrm>
          <a:prstGeom prst="rect">
            <a:avLst/>
          </a:prstGeom>
          <a:noFill/>
        </p:spPr>
        <p:txBody>
          <a:bodyPr wrap="none" rtlCol="0">
            <a:spAutoFit/>
          </a:bodyPr>
          <a:lstStyle/>
          <a:p>
            <a:r>
              <a:rPr lang="en-GB" dirty="0"/>
              <a:t>Loss</a:t>
            </a:r>
          </a:p>
        </p:txBody>
      </p:sp>
      <p:sp>
        <p:nvSpPr>
          <p:cNvPr id="48" name="Textfeld 47">
            <a:extLst>
              <a:ext uri="{FF2B5EF4-FFF2-40B4-BE49-F238E27FC236}">
                <a16:creationId xmlns:a16="http://schemas.microsoft.com/office/drawing/2014/main" id="{D1EB607B-E229-CECC-D8A1-F391AEFED447}"/>
              </a:ext>
            </a:extLst>
          </p:cNvPr>
          <p:cNvSpPr txBox="1"/>
          <p:nvPr/>
        </p:nvSpPr>
        <p:spPr>
          <a:xfrm>
            <a:off x="4261415" y="1457119"/>
            <a:ext cx="1048685" cy="369332"/>
          </a:xfrm>
          <a:prstGeom prst="rect">
            <a:avLst/>
          </a:prstGeom>
          <a:noFill/>
        </p:spPr>
        <p:txBody>
          <a:bodyPr wrap="none" rtlCol="0">
            <a:spAutoFit/>
          </a:bodyPr>
          <a:lstStyle/>
          <a:p>
            <a:r>
              <a:rPr lang="en-GB" b="1" u="sng" dirty="0"/>
              <a:t>Baseline</a:t>
            </a:r>
            <a:r>
              <a:rPr lang="en-GB" dirty="0"/>
              <a:t>:</a:t>
            </a:r>
          </a:p>
        </p:txBody>
      </p:sp>
      <p:sp>
        <p:nvSpPr>
          <p:cNvPr id="49" name="Textfeld 48">
            <a:extLst>
              <a:ext uri="{FF2B5EF4-FFF2-40B4-BE49-F238E27FC236}">
                <a16:creationId xmlns:a16="http://schemas.microsoft.com/office/drawing/2014/main" id="{BE567BC4-1210-789F-340F-D3970A2EDA31}"/>
              </a:ext>
            </a:extLst>
          </p:cNvPr>
          <p:cNvSpPr txBox="1"/>
          <p:nvPr/>
        </p:nvSpPr>
        <p:spPr>
          <a:xfrm>
            <a:off x="4261415" y="4086476"/>
            <a:ext cx="1820114" cy="369332"/>
          </a:xfrm>
          <a:prstGeom prst="rect">
            <a:avLst/>
          </a:prstGeom>
          <a:noFill/>
        </p:spPr>
        <p:txBody>
          <a:bodyPr wrap="none" rtlCol="0">
            <a:spAutoFit/>
          </a:bodyPr>
          <a:lstStyle/>
          <a:p>
            <a:r>
              <a:rPr lang="en-GB" b="1" u="sng" dirty="0"/>
              <a:t>DOE using PADO:</a:t>
            </a:r>
          </a:p>
        </p:txBody>
      </p:sp>
    </p:spTree>
    <p:extLst>
      <p:ext uri="{BB962C8B-B14F-4D97-AF65-F5344CB8AC3E}">
        <p14:creationId xmlns:p14="http://schemas.microsoft.com/office/powerpoint/2010/main" val="28334280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ED5D77-FD35-65D0-2AFF-22427B35A555}"/>
              </a:ext>
            </a:extLst>
          </p:cNvPr>
          <p:cNvSpPr>
            <a:spLocks noGrp="1"/>
          </p:cNvSpPr>
          <p:nvPr>
            <p:ph type="title"/>
          </p:nvPr>
        </p:nvSpPr>
        <p:spPr/>
        <p:txBody>
          <a:bodyPr/>
          <a:lstStyle/>
          <a:p>
            <a:r>
              <a:rPr lang="en-GB" b="1" dirty="0"/>
              <a:t>Results</a:t>
            </a:r>
          </a:p>
        </p:txBody>
      </p:sp>
      <p:sp>
        <p:nvSpPr>
          <p:cNvPr id="3" name="Inhaltsplatzhalter 2">
            <a:extLst>
              <a:ext uri="{FF2B5EF4-FFF2-40B4-BE49-F238E27FC236}">
                <a16:creationId xmlns:a16="http://schemas.microsoft.com/office/drawing/2014/main" id="{6C9331AF-7A11-4A8F-B7D7-55DF42BDB69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033946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D24094-1376-A08E-CF0A-22471136FC37}"/>
              </a:ext>
            </a:extLst>
          </p:cNvPr>
          <p:cNvSpPr>
            <a:spLocks noGrp="1"/>
          </p:cNvSpPr>
          <p:nvPr>
            <p:ph type="title"/>
          </p:nvPr>
        </p:nvSpPr>
        <p:spPr/>
        <p:txBody>
          <a:bodyPr/>
          <a:lstStyle/>
          <a:p>
            <a:r>
              <a:rPr lang="en-GB" b="1" dirty="0"/>
              <a:t>Conclusion</a:t>
            </a:r>
          </a:p>
        </p:txBody>
      </p:sp>
      <p:sp>
        <p:nvSpPr>
          <p:cNvPr id="3" name="Inhaltsplatzhalter 2">
            <a:extLst>
              <a:ext uri="{FF2B5EF4-FFF2-40B4-BE49-F238E27FC236}">
                <a16:creationId xmlns:a16="http://schemas.microsoft.com/office/drawing/2014/main" id="{F088508B-9057-00BA-E3C1-847A461485C1}"/>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730115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feld 3">
            <a:extLst>
              <a:ext uri="{FF2B5EF4-FFF2-40B4-BE49-F238E27FC236}">
                <a16:creationId xmlns:a16="http://schemas.microsoft.com/office/drawing/2014/main" id="{BD64DDFA-E0E6-2C22-A2F2-88BEA96A308B}"/>
              </a:ext>
            </a:extLst>
          </p:cNvPr>
          <p:cNvSpPr txBox="1"/>
          <p:nvPr/>
        </p:nvSpPr>
        <p:spPr>
          <a:xfrm>
            <a:off x="176136" y="2937613"/>
            <a:ext cx="8238343" cy="646331"/>
          </a:xfrm>
          <a:prstGeom prst="rect">
            <a:avLst/>
          </a:prstGeom>
          <a:noFill/>
        </p:spPr>
        <p:txBody>
          <a:bodyPr wrap="square">
            <a:spAutoFit/>
          </a:bodyPr>
          <a:lstStyle/>
          <a:p>
            <a:r>
              <a:rPr lang="en-GB" dirty="0">
                <a:hlinkClick r:id="rId2"/>
              </a:rPr>
              <a:t>https://www.kaggle.com/datasets/yessicatuteja/foggy-cityscapes-image-dataset</a:t>
            </a:r>
            <a:br>
              <a:rPr lang="en-GB" dirty="0"/>
            </a:br>
            <a:r>
              <a:rPr lang="en-GB" dirty="0"/>
              <a:t>1500 simulated images (500 per no fog, medium fog, dense fog)</a:t>
            </a:r>
          </a:p>
        </p:txBody>
      </p:sp>
      <p:sp>
        <p:nvSpPr>
          <p:cNvPr id="5" name="Textfeld 4">
            <a:extLst>
              <a:ext uri="{FF2B5EF4-FFF2-40B4-BE49-F238E27FC236}">
                <a16:creationId xmlns:a16="http://schemas.microsoft.com/office/drawing/2014/main" id="{EB146B29-CB29-0F3E-A4E8-C19C159F7714}"/>
              </a:ext>
            </a:extLst>
          </p:cNvPr>
          <p:cNvSpPr txBox="1"/>
          <p:nvPr/>
        </p:nvSpPr>
        <p:spPr>
          <a:xfrm>
            <a:off x="5336459" y="208917"/>
            <a:ext cx="1912127" cy="369332"/>
          </a:xfrm>
          <a:prstGeom prst="rect">
            <a:avLst/>
          </a:prstGeom>
          <a:noFill/>
        </p:spPr>
        <p:txBody>
          <a:bodyPr wrap="none" rtlCol="0">
            <a:spAutoFit/>
          </a:bodyPr>
          <a:lstStyle/>
          <a:p>
            <a:r>
              <a:rPr lang="en-GB" dirty="0"/>
              <a:t>Cityscapes dataset</a:t>
            </a:r>
          </a:p>
        </p:txBody>
      </p:sp>
      <p:sp>
        <p:nvSpPr>
          <p:cNvPr id="6" name="Textfeld 5">
            <a:extLst>
              <a:ext uri="{FF2B5EF4-FFF2-40B4-BE49-F238E27FC236}">
                <a16:creationId xmlns:a16="http://schemas.microsoft.com/office/drawing/2014/main" id="{94129CDF-C0BD-83F1-0199-C906248A10DE}"/>
              </a:ext>
            </a:extLst>
          </p:cNvPr>
          <p:cNvSpPr txBox="1"/>
          <p:nvPr/>
        </p:nvSpPr>
        <p:spPr>
          <a:xfrm>
            <a:off x="5937008" y="1364939"/>
            <a:ext cx="5252272" cy="646331"/>
          </a:xfrm>
          <a:prstGeom prst="rect">
            <a:avLst/>
          </a:prstGeom>
          <a:noFill/>
        </p:spPr>
        <p:txBody>
          <a:bodyPr wrap="none" rtlCol="0">
            <a:spAutoFit/>
          </a:bodyPr>
          <a:lstStyle/>
          <a:p>
            <a:r>
              <a:rPr lang="en-GB" dirty="0"/>
              <a:t>https://</a:t>
            </a:r>
            <a:r>
              <a:rPr lang="en-GB" dirty="0" err="1"/>
              <a:t>www.cityscapes-dataset.com</a:t>
            </a:r>
            <a:r>
              <a:rPr lang="en-GB" dirty="0"/>
              <a:t>/</a:t>
            </a:r>
            <a:r>
              <a:rPr lang="en-GB" dirty="0" err="1"/>
              <a:t>foggydownload</a:t>
            </a:r>
            <a:r>
              <a:rPr lang="en-GB" dirty="0"/>
              <a:t>/</a:t>
            </a:r>
            <a:br>
              <a:rPr lang="en-GB" dirty="0"/>
            </a:br>
            <a:r>
              <a:rPr lang="en-GB" dirty="0"/>
              <a:t>ETH Zürich, 25000 images with simulated fog</a:t>
            </a:r>
          </a:p>
        </p:txBody>
      </p:sp>
      <mc:AlternateContent xmlns:mc="http://schemas.openxmlformats.org/markup-compatibility/2006" xmlns:p14="http://schemas.microsoft.com/office/powerpoint/2010/main">
        <mc:Choice Requires="p14">
          <p:contentPart p14:bwMode="auto" r:id="rId3">
            <p14:nvContentPartPr>
              <p14:cNvPr id="7" name="Freihand 6">
                <a:extLst>
                  <a:ext uri="{FF2B5EF4-FFF2-40B4-BE49-F238E27FC236}">
                    <a16:creationId xmlns:a16="http://schemas.microsoft.com/office/drawing/2014/main" id="{53EAB370-BBB1-A378-DE14-125A850C391B}"/>
                  </a:ext>
                </a:extLst>
              </p14:cNvPr>
              <p14:cNvContentPartPr/>
              <p14:nvPr/>
            </p14:nvContentPartPr>
            <p14:xfrm>
              <a:off x="6379196" y="602386"/>
              <a:ext cx="661320" cy="702000"/>
            </p14:xfrm>
          </p:contentPart>
        </mc:Choice>
        <mc:Fallback xmlns="">
          <p:pic>
            <p:nvPicPr>
              <p:cNvPr id="7" name="Freihand 6">
                <a:extLst>
                  <a:ext uri="{FF2B5EF4-FFF2-40B4-BE49-F238E27FC236}">
                    <a16:creationId xmlns:a16="http://schemas.microsoft.com/office/drawing/2014/main" id="{53EAB370-BBB1-A378-DE14-125A850C391B}"/>
                  </a:ext>
                </a:extLst>
              </p:cNvPr>
              <p:cNvPicPr/>
              <p:nvPr/>
            </p:nvPicPr>
            <p:blipFill>
              <a:blip r:embed="rId4"/>
              <a:stretch>
                <a:fillRect/>
              </a:stretch>
            </p:blipFill>
            <p:spPr>
              <a:xfrm>
                <a:off x="6343556" y="566746"/>
                <a:ext cx="732960" cy="773640"/>
              </a:xfrm>
              <a:prstGeom prst="rect">
                <a:avLst/>
              </a:prstGeom>
            </p:spPr>
          </p:pic>
        </mc:Fallback>
      </mc:AlternateContent>
      <p:sp>
        <p:nvSpPr>
          <p:cNvPr id="9" name="Textfeld 8">
            <a:extLst>
              <a:ext uri="{FF2B5EF4-FFF2-40B4-BE49-F238E27FC236}">
                <a16:creationId xmlns:a16="http://schemas.microsoft.com/office/drawing/2014/main" id="{D7F5AC3B-24D9-F008-6EBF-398E0E8222FD}"/>
              </a:ext>
            </a:extLst>
          </p:cNvPr>
          <p:cNvSpPr txBox="1"/>
          <p:nvPr/>
        </p:nvSpPr>
        <p:spPr>
          <a:xfrm>
            <a:off x="6110991" y="3836598"/>
            <a:ext cx="6382486" cy="646331"/>
          </a:xfrm>
          <a:prstGeom prst="rect">
            <a:avLst/>
          </a:prstGeom>
          <a:noFill/>
        </p:spPr>
        <p:txBody>
          <a:bodyPr wrap="square">
            <a:spAutoFit/>
          </a:bodyPr>
          <a:lstStyle/>
          <a:p>
            <a:r>
              <a:rPr lang="en-GB" dirty="0">
                <a:hlinkClick r:id="rId5"/>
              </a:rPr>
              <a:t>https://www.kaggle.com/datasets/khitdon/foggy-cityscapes-yolo</a:t>
            </a:r>
            <a:br>
              <a:rPr lang="en-GB" dirty="0"/>
            </a:br>
            <a:r>
              <a:rPr lang="en-GB" dirty="0"/>
              <a:t>3475 images, no source mentioned</a:t>
            </a:r>
          </a:p>
        </p:txBody>
      </p:sp>
      <mc:AlternateContent xmlns:mc="http://schemas.openxmlformats.org/markup-compatibility/2006" xmlns:p14="http://schemas.microsoft.com/office/powerpoint/2010/main">
        <mc:Choice Requires="p14">
          <p:contentPart p14:bwMode="auto" r:id="rId6">
            <p14:nvContentPartPr>
              <p14:cNvPr id="12" name="Freihand 11">
                <a:extLst>
                  <a:ext uri="{FF2B5EF4-FFF2-40B4-BE49-F238E27FC236}">
                    <a16:creationId xmlns:a16="http://schemas.microsoft.com/office/drawing/2014/main" id="{A4169A2D-351B-A392-C991-C01924FB7C50}"/>
                  </a:ext>
                </a:extLst>
              </p14:cNvPr>
              <p14:cNvContentPartPr/>
              <p14:nvPr/>
            </p14:nvContentPartPr>
            <p14:xfrm>
              <a:off x="5624168" y="2081591"/>
              <a:ext cx="625680" cy="601560"/>
            </p14:xfrm>
          </p:contentPart>
        </mc:Choice>
        <mc:Fallback xmlns="">
          <p:pic>
            <p:nvPicPr>
              <p:cNvPr id="12" name="Freihand 11">
                <a:extLst>
                  <a:ext uri="{FF2B5EF4-FFF2-40B4-BE49-F238E27FC236}">
                    <a16:creationId xmlns:a16="http://schemas.microsoft.com/office/drawing/2014/main" id="{A4169A2D-351B-A392-C991-C01924FB7C50}"/>
                  </a:ext>
                </a:extLst>
              </p:cNvPr>
              <p:cNvPicPr/>
              <p:nvPr/>
            </p:nvPicPr>
            <p:blipFill>
              <a:blip r:embed="rId7"/>
              <a:stretch>
                <a:fillRect/>
              </a:stretch>
            </p:blipFill>
            <p:spPr>
              <a:xfrm>
                <a:off x="5588168" y="2045591"/>
                <a:ext cx="697320" cy="673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Freihand 15">
                <a:extLst>
                  <a:ext uri="{FF2B5EF4-FFF2-40B4-BE49-F238E27FC236}">
                    <a16:creationId xmlns:a16="http://schemas.microsoft.com/office/drawing/2014/main" id="{B5F5003E-E1C5-4824-6C0C-BDD4DEEE3DD5}"/>
                  </a:ext>
                </a:extLst>
              </p14:cNvPr>
              <p14:cNvContentPartPr/>
              <p14:nvPr/>
            </p14:nvContentPartPr>
            <p14:xfrm>
              <a:off x="9425768" y="2576231"/>
              <a:ext cx="563040" cy="842760"/>
            </p14:xfrm>
          </p:contentPart>
        </mc:Choice>
        <mc:Fallback xmlns="">
          <p:pic>
            <p:nvPicPr>
              <p:cNvPr id="16" name="Freihand 15">
                <a:extLst>
                  <a:ext uri="{FF2B5EF4-FFF2-40B4-BE49-F238E27FC236}">
                    <a16:creationId xmlns:a16="http://schemas.microsoft.com/office/drawing/2014/main" id="{B5F5003E-E1C5-4824-6C0C-BDD4DEEE3DD5}"/>
                  </a:ext>
                </a:extLst>
              </p:cNvPr>
              <p:cNvPicPr/>
              <p:nvPr/>
            </p:nvPicPr>
            <p:blipFill>
              <a:blip r:embed="rId9"/>
              <a:stretch>
                <a:fillRect/>
              </a:stretch>
            </p:blipFill>
            <p:spPr>
              <a:xfrm>
                <a:off x="9390128" y="2540231"/>
                <a:ext cx="634680" cy="9144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 name="Freihand 20">
                <a:extLst>
                  <a:ext uri="{FF2B5EF4-FFF2-40B4-BE49-F238E27FC236}">
                    <a16:creationId xmlns:a16="http://schemas.microsoft.com/office/drawing/2014/main" id="{68064145-427D-E778-A818-40D82878A657}"/>
                  </a:ext>
                </a:extLst>
              </p14:cNvPr>
              <p14:cNvContentPartPr/>
              <p14:nvPr/>
            </p14:nvContentPartPr>
            <p14:xfrm>
              <a:off x="6214568" y="4312151"/>
              <a:ext cx="3283200" cy="97560"/>
            </p14:xfrm>
          </p:contentPart>
        </mc:Choice>
        <mc:Fallback xmlns="">
          <p:pic>
            <p:nvPicPr>
              <p:cNvPr id="21" name="Freihand 20">
                <a:extLst>
                  <a:ext uri="{FF2B5EF4-FFF2-40B4-BE49-F238E27FC236}">
                    <a16:creationId xmlns:a16="http://schemas.microsoft.com/office/drawing/2014/main" id="{68064145-427D-E778-A818-40D82878A657}"/>
                  </a:ext>
                </a:extLst>
              </p:cNvPr>
              <p:cNvPicPr/>
              <p:nvPr/>
            </p:nvPicPr>
            <p:blipFill>
              <a:blip r:embed="rId11"/>
              <a:stretch>
                <a:fillRect/>
              </a:stretch>
            </p:blipFill>
            <p:spPr>
              <a:xfrm>
                <a:off x="6160928" y="4204151"/>
                <a:ext cx="3390840" cy="313200"/>
              </a:xfrm>
              <a:prstGeom prst="rect">
                <a:avLst/>
              </a:prstGeom>
            </p:spPr>
          </p:pic>
        </mc:Fallback>
      </mc:AlternateContent>
      <p:sp>
        <p:nvSpPr>
          <p:cNvPr id="22" name="Textfeld 21">
            <a:extLst>
              <a:ext uri="{FF2B5EF4-FFF2-40B4-BE49-F238E27FC236}">
                <a16:creationId xmlns:a16="http://schemas.microsoft.com/office/drawing/2014/main" id="{F0CDF945-F5E9-5B5C-6C02-BD16D851F206}"/>
              </a:ext>
            </a:extLst>
          </p:cNvPr>
          <p:cNvSpPr txBox="1"/>
          <p:nvPr/>
        </p:nvSpPr>
        <p:spPr>
          <a:xfrm>
            <a:off x="176136" y="1304386"/>
            <a:ext cx="5160323" cy="646331"/>
          </a:xfrm>
          <a:prstGeom prst="rect">
            <a:avLst/>
          </a:prstGeom>
          <a:noFill/>
        </p:spPr>
        <p:txBody>
          <a:bodyPr wrap="none" rtlCol="0">
            <a:spAutoFit/>
          </a:bodyPr>
          <a:lstStyle/>
          <a:p>
            <a:r>
              <a:rPr lang="en-GB" dirty="0"/>
              <a:t>https://</a:t>
            </a:r>
            <a:r>
              <a:rPr lang="en-GB" dirty="0" err="1"/>
              <a:t>people.ee.ethz.ch</a:t>
            </a:r>
            <a:r>
              <a:rPr lang="en-GB" dirty="0"/>
              <a:t>/~</a:t>
            </a:r>
            <a:r>
              <a:rPr lang="en-GB" dirty="0" err="1"/>
              <a:t>csakarid</a:t>
            </a:r>
            <a:r>
              <a:rPr lang="en-GB" dirty="0"/>
              <a:t>/</a:t>
            </a:r>
            <a:r>
              <a:rPr lang="en-GB" dirty="0" err="1"/>
              <a:t>SFSU_synthetic</a:t>
            </a:r>
            <a:r>
              <a:rPr lang="en-GB" dirty="0"/>
              <a:t>/</a:t>
            </a:r>
            <a:br>
              <a:rPr lang="en-GB" dirty="0"/>
            </a:br>
            <a:r>
              <a:rPr lang="en-GB" dirty="0"/>
              <a:t>ETH Zürich, Foggy driving, 101 real world images</a:t>
            </a:r>
          </a:p>
        </p:txBody>
      </p:sp>
      <p:sp>
        <p:nvSpPr>
          <p:cNvPr id="2" name="Textfeld 1">
            <a:extLst>
              <a:ext uri="{FF2B5EF4-FFF2-40B4-BE49-F238E27FC236}">
                <a16:creationId xmlns:a16="http://schemas.microsoft.com/office/drawing/2014/main" id="{B15BFF0B-D470-AD70-644C-10EF4E603BCC}"/>
              </a:ext>
            </a:extLst>
          </p:cNvPr>
          <p:cNvSpPr txBox="1"/>
          <p:nvPr/>
        </p:nvSpPr>
        <p:spPr>
          <a:xfrm>
            <a:off x="1643063" y="5657850"/>
            <a:ext cx="4605300" cy="369332"/>
          </a:xfrm>
          <a:prstGeom prst="rect">
            <a:avLst/>
          </a:prstGeom>
          <a:noFill/>
        </p:spPr>
        <p:txBody>
          <a:bodyPr wrap="none" rtlCol="0">
            <a:spAutoFit/>
          </a:bodyPr>
          <a:lstStyle/>
          <a:p>
            <a:r>
              <a:rPr lang="en-GB" dirty="0"/>
              <a:t>DAWN:  303 foggy images with bounding boxes</a:t>
            </a:r>
          </a:p>
        </p:txBody>
      </p:sp>
    </p:spTree>
    <p:extLst>
      <p:ext uri="{BB962C8B-B14F-4D97-AF65-F5344CB8AC3E}">
        <p14:creationId xmlns:p14="http://schemas.microsoft.com/office/powerpoint/2010/main" val="269031982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800</Words>
  <Application>Microsoft Macintosh PowerPoint</Application>
  <PresentationFormat>Breitbild</PresentationFormat>
  <Paragraphs>96</Paragraphs>
  <Slides>11</Slides>
  <Notes>5</Notes>
  <HiddenSlides>5</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11</vt:i4>
      </vt:variant>
    </vt:vector>
  </HeadingPairs>
  <TitlesOfParts>
    <vt:vector size="16" baseType="lpstr">
      <vt:lpstr>Arial</vt:lpstr>
      <vt:lpstr>Calibri</vt:lpstr>
      <vt:lpstr>Calibri Light</vt:lpstr>
      <vt:lpstr>Cambria Math</vt:lpstr>
      <vt:lpstr>Office</vt:lpstr>
      <vt:lpstr>Co-Optimizing Diffractive Optics and Object Detection for Robust Perception in Adverse Weather</vt:lpstr>
      <vt:lpstr>Co-Optimizing Diffractive Optics and Object Detection for Robust Perception in Adverse Weather</vt:lpstr>
      <vt:lpstr>Motivation</vt:lpstr>
      <vt:lpstr>Motivation</vt:lpstr>
      <vt:lpstr>Previous Work</vt:lpstr>
      <vt:lpstr>Methods</vt:lpstr>
      <vt:lpstr>Methods</vt:lpstr>
      <vt:lpstr>Methods</vt:lpstr>
      <vt:lpstr>Results</vt:lpstr>
      <vt:lpstr>Conclusion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Co-Optimizing Diffractive Optics and Object Detection for Robust Perception in Adverse Weather</dc:title>
  <dc:creator>Michi Maxima</dc:creator>
  <cp:lastModifiedBy>Michi Maxima</cp:lastModifiedBy>
  <cp:revision>10</cp:revision>
  <dcterms:created xsi:type="dcterms:W3CDTF">2025-11-30T06:10:28Z</dcterms:created>
  <dcterms:modified xsi:type="dcterms:W3CDTF">2025-12-08T09:34:31Z</dcterms:modified>
</cp:coreProperties>
</file>